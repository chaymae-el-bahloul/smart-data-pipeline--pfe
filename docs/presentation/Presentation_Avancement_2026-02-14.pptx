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elandine" panose="020B0604020202020204" charset="0"/>
      <p:regular r:id="rId14"/>
    </p:embeddedFont>
    <p:embeddedFont>
      <p:font typeface="Etna Sans Serif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8.pn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44236" y="-529720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48277" y="2708317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32119" y="5919754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2231" y="3760669"/>
            <a:ext cx="12932805" cy="274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2"/>
              </a:lnSpc>
            </a:pP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Smart Data Pipeline </a:t>
            </a:r>
            <a:r>
              <a:rPr lang="en-US" sz="7072">
                <a:solidFill>
                  <a:srgbClr val="3A7BFC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Auto</a:t>
            </a: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-Adaptatif pour la Gestion Intelligente des Flux de Données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56203" y="1716243"/>
            <a:ext cx="1984148" cy="19841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52468" y="1912507"/>
            <a:ext cx="1591619" cy="1591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40045" y="4838969"/>
            <a:ext cx="1984148" cy="198414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936309" y="5035233"/>
            <a:ext cx="1591619" cy="159161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248024" y="5281437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548202" y="2071575"/>
            <a:ext cx="1200151" cy="1140143"/>
          </a:xfrm>
          <a:custGeom>
            <a:avLst/>
            <a:gdLst/>
            <a:ahLst/>
            <a:cxnLst/>
            <a:rect l="l" t="t" r="r" b="b"/>
            <a:pathLst>
              <a:path w="1200151" h="1140143">
                <a:moveTo>
                  <a:pt x="0" y="0"/>
                </a:moveTo>
                <a:lnTo>
                  <a:pt x="1200150" y="0"/>
                </a:lnTo>
                <a:lnTo>
                  <a:pt x="1200150" y="1140143"/>
                </a:lnTo>
                <a:lnTo>
                  <a:pt x="0" y="1140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831325" y="355332"/>
            <a:ext cx="7101696" cy="1716243"/>
          </a:xfrm>
          <a:custGeom>
            <a:avLst/>
            <a:gdLst/>
            <a:ahLst/>
            <a:cxnLst/>
            <a:rect l="l" t="t" r="r" b="b"/>
            <a:pathLst>
              <a:path w="7101696" h="1716243">
                <a:moveTo>
                  <a:pt x="0" y="0"/>
                </a:moveTo>
                <a:lnTo>
                  <a:pt x="7101695" y="0"/>
                </a:lnTo>
                <a:lnTo>
                  <a:pt x="7101695" y="1716243"/>
                </a:lnTo>
                <a:lnTo>
                  <a:pt x="0" y="17162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455036" y="8544660"/>
            <a:ext cx="4237600" cy="932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Encadré par :</a:t>
            </a:r>
          </a:p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Pr. Anas BERKA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31325" y="7746465"/>
            <a:ext cx="4428740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Présenté par 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BOUDALLAA SAMAH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BAHLOUL CHAYMAE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BASRI KHADIJA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10069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24" name="Freeform 24"/>
          <p:cNvSpPr/>
          <p:nvPr/>
        </p:nvSpPr>
        <p:spPr>
          <a:xfrm>
            <a:off x="17268825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8062">
            <a:off x="-357485" y="-90215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062">
            <a:off x="3705162" y="2004009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88062">
            <a:off x="7597022" y="3805119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8062">
            <a:off x="11830457" y="6192456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88062">
            <a:off x="16261477" y="9110457"/>
            <a:ext cx="4423025" cy="4114800"/>
          </a:xfrm>
          <a:custGeom>
            <a:avLst/>
            <a:gdLst/>
            <a:ahLst/>
            <a:cxnLst/>
            <a:rect l="l" t="t" r="r" b="b"/>
            <a:pathLst>
              <a:path w="4423025" h="4114800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911911" y="2045574"/>
            <a:ext cx="1664944" cy="166494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076601" y="2210264"/>
            <a:ext cx="1335564" cy="133556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240846" y="2399686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187361" y="4315463"/>
            <a:ext cx="1664944" cy="16649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2051" y="4480153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43608" y="6180257"/>
            <a:ext cx="1664944" cy="16649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08297" y="6344947"/>
            <a:ext cx="1335564" cy="13355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7514195" y="4598328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362007" y="6545778"/>
            <a:ext cx="1228146" cy="933902"/>
          </a:xfrm>
          <a:custGeom>
            <a:avLst/>
            <a:gdLst/>
            <a:ahLst/>
            <a:cxnLst/>
            <a:rect l="l" t="t" r="r" b="b"/>
            <a:pathLst>
              <a:path w="1228146" h="933902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79322" y="214043"/>
            <a:ext cx="7315200" cy="3044952"/>
          </a:xfrm>
          <a:custGeom>
            <a:avLst/>
            <a:gdLst/>
            <a:ahLst/>
            <a:cxnLst/>
            <a:rect l="l" t="t" r="r" b="b"/>
            <a:pathLst>
              <a:path w="7315200" h="3044952">
                <a:moveTo>
                  <a:pt x="0" y="0"/>
                </a:moveTo>
                <a:lnTo>
                  <a:pt x="7315200" y="0"/>
                </a:lnTo>
                <a:lnTo>
                  <a:pt x="7315200" y="3044952"/>
                </a:lnTo>
                <a:lnTo>
                  <a:pt x="0" y="3044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638517" y="1043215"/>
            <a:ext cx="3085009" cy="11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Objectifs du projet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23526" y="2818133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globale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71872" y="4635223"/>
            <a:ext cx="2967404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Dataset utilisé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-457290" y="2756894"/>
            <a:ext cx="3752791" cy="171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et problématique</a:t>
            </a:r>
          </a:p>
          <a:p>
            <a:pPr algn="ctr">
              <a:lnSpc>
                <a:spcPts val="4620"/>
              </a:lnSpc>
            </a:pPr>
            <a:endParaRPr lang="en-US" sz="330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55574" y="5991583"/>
            <a:ext cx="3807084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Mécanisme d’Auto-Adaptation</a:t>
            </a:r>
          </a:p>
        </p:txBody>
      </p:sp>
      <p:sp>
        <p:nvSpPr>
          <p:cNvPr id="34" name="Freeform 34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-124441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732780" y="6468461"/>
            <a:ext cx="3085009" cy="171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Limites actuelles et Perspectives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87204" y="8814703"/>
            <a:ext cx="3085009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Technologies utilisées</a:t>
            </a:r>
          </a:p>
        </p:txBody>
      </p:sp>
      <p:sp>
        <p:nvSpPr>
          <p:cNvPr id="38" name="Freeform 38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20796" y="4913353"/>
            <a:ext cx="3807084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Détection d’Anomalies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802195" y="7290846"/>
            <a:ext cx="3085009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Démonstration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2353" y="3595643"/>
            <a:ext cx="3706795" cy="4562209"/>
            <a:chOff x="0" y="0"/>
            <a:chExt cx="6604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45601" y="3595643"/>
            <a:ext cx="3706795" cy="4562209"/>
            <a:chOff x="0" y="0"/>
            <a:chExt cx="660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28848" y="3595643"/>
            <a:ext cx="3706795" cy="4562209"/>
            <a:chOff x="0" y="0"/>
            <a:chExt cx="6604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12096" y="3595643"/>
            <a:ext cx="3706795" cy="4562209"/>
            <a:chOff x="0" y="0"/>
            <a:chExt cx="6604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83278" y="2763171"/>
            <a:ext cx="1664944" cy="16649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47968" y="2927861"/>
            <a:ext cx="1335564" cy="13355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06554" y="2763171"/>
            <a:ext cx="1664944" cy="16649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1244" y="2927861"/>
            <a:ext cx="1335564" cy="13355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645812" y="2763171"/>
            <a:ext cx="1664944" cy="16649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10502" y="2927861"/>
            <a:ext cx="1335564" cy="133556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825099" y="2763171"/>
            <a:ext cx="1664944" cy="16649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989788" y="2927861"/>
            <a:ext cx="1335564" cy="13355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2612213" y="3117283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666162" y="3046036"/>
            <a:ext cx="945729" cy="1027967"/>
          </a:xfrm>
          <a:custGeom>
            <a:avLst/>
            <a:gdLst/>
            <a:ahLst/>
            <a:cxnLst/>
            <a:rect l="l" t="t" r="r" b="b"/>
            <a:pathLst>
              <a:path w="945729" h="1027967">
                <a:moveTo>
                  <a:pt x="0" y="0"/>
                </a:moveTo>
                <a:lnTo>
                  <a:pt x="945729" y="0"/>
                </a:lnTo>
                <a:lnTo>
                  <a:pt x="945729" y="1027967"/>
                </a:lnTo>
                <a:lnTo>
                  <a:pt x="0" y="102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945851" y="3155148"/>
            <a:ext cx="1064867" cy="809743"/>
          </a:xfrm>
          <a:custGeom>
            <a:avLst/>
            <a:gdLst/>
            <a:ahLst/>
            <a:cxnLst/>
            <a:rect l="l" t="t" r="r" b="b"/>
            <a:pathLst>
              <a:path w="1064867" h="809743">
                <a:moveTo>
                  <a:pt x="0" y="0"/>
                </a:moveTo>
                <a:lnTo>
                  <a:pt x="1064867" y="0"/>
                </a:lnTo>
                <a:lnTo>
                  <a:pt x="1064867" y="809743"/>
                </a:lnTo>
                <a:lnTo>
                  <a:pt x="0" y="809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5249258" y="3179407"/>
            <a:ext cx="832472" cy="832472"/>
          </a:xfrm>
          <a:custGeom>
            <a:avLst/>
            <a:gdLst/>
            <a:ahLst/>
            <a:cxnLst/>
            <a:rect l="l" t="t" r="r" b="b"/>
            <a:pathLst>
              <a:path w="832472" h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208400" y="7987758"/>
            <a:ext cx="1703363" cy="1735911"/>
          </a:xfrm>
          <a:custGeom>
            <a:avLst/>
            <a:gdLst/>
            <a:ahLst/>
            <a:cxnLst/>
            <a:rect l="l" t="t" r="r" b="b"/>
            <a:pathLst>
              <a:path w="1703363" h="1735911">
                <a:moveTo>
                  <a:pt x="0" y="0"/>
                </a:moveTo>
                <a:lnTo>
                  <a:pt x="1703363" y="0"/>
                </a:lnTo>
                <a:lnTo>
                  <a:pt x="1703363" y="1735911"/>
                </a:lnTo>
                <a:lnTo>
                  <a:pt x="0" y="17359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948222" y="807462"/>
            <a:ext cx="10515790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&amp; PROBLÉMATIQUE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32011" y="5082908"/>
            <a:ext cx="296748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Croissance massive des données IoT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77064" y="5301983"/>
            <a:ext cx="308500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Besoin de traitement en temps réel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94097" y="5366118"/>
            <a:ext cx="308500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Optimisation des ressources selon la charge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115066" y="5301983"/>
            <a:ext cx="308500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Détection d’anomalies environnementales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F7F9F9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881467" y="8798563"/>
            <a:ext cx="9850683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Problématique :  </a:t>
            </a:r>
            <a:r>
              <a:rPr lang="en-US" sz="29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Comment rendre un pipeline de données intelligent et auto-adaptatif ?</a:t>
            </a:r>
          </a:p>
        </p:txBody>
      </p:sp>
      <p:sp>
        <p:nvSpPr>
          <p:cNvPr id="49" name="Freeform 49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0" y="9676044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51" name="Freeform 51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43734" y="1743611"/>
            <a:ext cx="7815781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OBJECTIFS DU PFE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4593" y="4683945"/>
            <a:ext cx="3724048" cy="4109294"/>
            <a:chOff x="0" y="0"/>
            <a:chExt cx="7366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29391" y="4683945"/>
            <a:ext cx="3724048" cy="4109294"/>
            <a:chOff x="0" y="0"/>
            <a:chExt cx="7366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77252" y="4683945"/>
            <a:ext cx="3724048" cy="4109294"/>
            <a:chOff x="0" y="0"/>
            <a:chExt cx="7366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80828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97733" y="4683945"/>
            <a:ext cx="3724048" cy="4109294"/>
            <a:chOff x="0" y="0"/>
            <a:chExt cx="7366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6600" cy="812800"/>
            </a:xfrm>
            <a:custGeom>
              <a:avLst/>
              <a:gdLst/>
              <a:ahLst/>
              <a:cxnLst/>
              <a:rect l="l" t="t" r="r" b="b"/>
              <a:pathLst>
                <a:path w="736600" h="8128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lIns="44015" tIns="44015" rIns="44015" bIns="44015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2878" y="6284567"/>
            <a:ext cx="2967480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Simuler un flux IoT réel via Kafka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45442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Implémenter une auto-adaptation (Pandas / Spark)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83081" y="6191295"/>
            <a:ext cx="3085009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Ajouter une détection d’anomalies</a:t>
            </a:r>
          </a:p>
          <a:p>
            <a:pPr algn="ctr">
              <a:lnSpc>
                <a:spcPts val="3779"/>
              </a:lnSpc>
            </a:pPr>
            <a:endParaRPr lang="en-US" sz="2699">
              <a:solidFill>
                <a:srgbClr val="FFFFFF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717253" y="6191295"/>
            <a:ext cx="308500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Visualiser les données en temps réel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004145" y="8149744"/>
            <a:ext cx="1664944" cy="166494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68391" y="8314434"/>
            <a:ext cx="1335564" cy="133556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2332636" y="8503856"/>
            <a:ext cx="1007074" cy="956720"/>
          </a:xfrm>
          <a:custGeom>
            <a:avLst/>
            <a:gdLst/>
            <a:ahLst/>
            <a:cxnLst/>
            <a:rect l="l" t="t" r="r" b="b"/>
            <a:pathLst>
              <a:path w="1007074" h="956720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6181693" y="8149744"/>
            <a:ext cx="1664944" cy="16649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46383" y="8314434"/>
            <a:ext cx="1335564" cy="133556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44789" y="7916277"/>
            <a:ext cx="1664944" cy="16649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609479" y="8080967"/>
            <a:ext cx="1335564" cy="13355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485777" y="8403536"/>
            <a:ext cx="1011276" cy="1099213"/>
          </a:xfrm>
          <a:custGeom>
            <a:avLst/>
            <a:gdLst/>
            <a:ahLst/>
            <a:cxnLst/>
            <a:rect l="l" t="t" r="r" b="b"/>
            <a:pathLst>
              <a:path w="1011276" h="1099213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14427285" y="7985054"/>
            <a:ext cx="1664944" cy="166494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591975" y="8202705"/>
            <a:ext cx="1335564" cy="133556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4870901" y="8425828"/>
            <a:ext cx="832472" cy="832472"/>
          </a:xfrm>
          <a:custGeom>
            <a:avLst/>
            <a:gdLst/>
            <a:ahLst/>
            <a:cxnLst/>
            <a:rect l="l" t="t" r="r" b="b"/>
            <a:pathLst>
              <a:path w="832472" h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663189" y="8403536"/>
            <a:ext cx="1228146" cy="933902"/>
          </a:xfrm>
          <a:custGeom>
            <a:avLst/>
            <a:gdLst/>
            <a:ahLst/>
            <a:cxnLst/>
            <a:rect l="l" t="t" r="r" b="b"/>
            <a:pathLst>
              <a:path w="1228146" h="933902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2332636" y="2851698"/>
            <a:ext cx="15236318" cy="122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 général :</a:t>
            </a:r>
          </a:p>
          <a:p>
            <a:pPr algn="ctr">
              <a:lnSpc>
                <a:spcPts val="4179"/>
              </a:lnSpc>
            </a:pPr>
            <a:r>
              <a:rPr lang="en-US" sz="298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                           Concevoir un pipeline de données intelligent et auto-adaptatif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537" y="179256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-528601" y="960237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50" name="Freeform 50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9582" y="1546650"/>
            <a:ext cx="16808836" cy="168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Globale</a:t>
            </a:r>
          </a:p>
          <a:p>
            <a:pPr algn="ctr">
              <a:lnSpc>
                <a:spcPts val="6500"/>
              </a:lnSpc>
            </a:pPr>
            <a:endParaRPr lang="en-US" sz="6500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14518" y="2334056"/>
            <a:ext cx="14602564" cy="7281382"/>
          </a:xfrm>
          <a:custGeom>
            <a:avLst/>
            <a:gdLst/>
            <a:ahLst/>
            <a:cxnLst/>
            <a:rect l="l" t="t" r="r" b="b"/>
            <a:pathLst>
              <a:path w="14602564" h="7281382">
                <a:moveTo>
                  <a:pt x="0" y="0"/>
                </a:moveTo>
                <a:lnTo>
                  <a:pt x="14602563" y="0"/>
                </a:lnTo>
                <a:lnTo>
                  <a:pt x="14602563" y="7281382"/>
                </a:lnTo>
                <a:lnTo>
                  <a:pt x="0" y="7281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562" b="-110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49344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10502" y="2927861"/>
            <a:ext cx="1335564" cy="186623"/>
            <a:chOff x="0" y="0"/>
            <a:chExt cx="812800" cy="113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13575"/>
            </a:xfrm>
            <a:custGeom>
              <a:avLst/>
              <a:gdLst/>
              <a:ahLst/>
              <a:cxnLst/>
              <a:rect l="l" t="t" r="r" b="b"/>
              <a:pathLst>
                <a:path w="812800" h="113575">
                  <a:moveTo>
                    <a:pt x="406400" y="0"/>
                  </a:moveTo>
                  <a:cubicBezTo>
                    <a:pt x="181951" y="0"/>
                    <a:pt x="0" y="25425"/>
                    <a:pt x="0" y="56788"/>
                  </a:cubicBezTo>
                  <a:cubicBezTo>
                    <a:pt x="0" y="88150"/>
                    <a:pt x="181951" y="113575"/>
                    <a:pt x="406400" y="113575"/>
                  </a:cubicBezTo>
                  <a:cubicBezTo>
                    <a:pt x="630849" y="113575"/>
                    <a:pt x="812800" y="88150"/>
                    <a:pt x="812800" y="56788"/>
                  </a:cubicBezTo>
                  <a:cubicBezTo>
                    <a:pt x="812800" y="2542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7452"/>
              <a:ext cx="660400" cy="130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60156" y="1825418"/>
            <a:ext cx="9757688" cy="231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1"/>
              </a:lnSpc>
            </a:pPr>
            <a:r>
              <a:rPr lang="en-US" sz="603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Dataset utilisé</a:t>
            </a:r>
          </a:p>
          <a:p>
            <a:pPr algn="ctr">
              <a:lnSpc>
                <a:spcPts val="6031"/>
              </a:lnSpc>
            </a:pPr>
            <a:endParaRPr lang="en-US" sz="6031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6031"/>
              </a:lnSpc>
            </a:pPr>
            <a:endParaRPr lang="en-US" sz="6031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66489" y="252393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22982" y="3038284"/>
            <a:ext cx="15236318" cy="694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Dataset IoT réel</a:t>
            </a:r>
          </a:p>
          <a:p>
            <a:pPr marL="874792" lvl="1" indent="-437396" algn="l">
              <a:lnSpc>
                <a:spcPts val="5672"/>
              </a:lnSpc>
              <a:buAutoNum type="arabicPeriod"/>
            </a:pPr>
            <a:r>
              <a:rPr lang="en-US" sz="405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Données de télémétrie</a:t>
            </a:r>
          </a:p>
          <a:p>
            <a:pPr marL="874792" lvl="1" indent="-437396" algn="l">
              <a:lnSpc>
                <a:spcPts val="5672"/>
              </a:lnSpc>
              <a:buAutoNum type="arabicPeriod"/>
            </a:pPr>
            <a:r>
              <a:rPr lang="en-US" sz="405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Température entre 0°C et 30.6°C</a:t>
            </a:r>
          </a:p>
          <a:p>
            <a:pPr marL="874792" lvl="1" indent="-437396" algn="l">
              <a:lnSpc>
                <a:spcPts val="5672"/>
              </a:lnSpc>
              <a:buAutoNum type="arabicPeriod"/>
            </a:pPr>
            <a:r>
              <a:rPr lang="en-US" sz="405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Colonnes : temp, humidity, co, smoke…</a:t>
            </a:r>
          </a:p>
          <a:p>
            <a:pPr marL="874792" lvl="1" indent="-437396" algn="l">
              <a:lnSpc>
                <a:spcPts val="5672"/>
              </a:lnSpc>
              <a:buAutoNum type="arabicPeriod"/>
            </a:pPr>
            <a:r>
              <a:rPr lang="en-US" sz="405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Simulation streaming via Kafka Producer</a:t>
            </a:r>
          </a:p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Justification seuil :</a:t>
            </a:r>
          </a:p>
          <a:p>
            <a:pPr marL="874792" lvl="1" indent="-437396" algn="l">
              <a:lnSpc>
                <a:spcPts val="5672"/>
              </a:lnSpc>
              <a:buAutoNum type="arabicPeriod"/>
            </a:pPr>
            <a:r>
              <a:rPr lang="en-US" sz="405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Seuil adaptation : 25°C</a:t>
            </a:r>
          </a:p>
          <a:p>
            <a:pPr marL="874792" lvl="1" indent="-437396" algn="l">
              <a:lnSpc>
                <a:spcPts val="5672"/>
              </a:lnSpc>
              <a:buAutoNum type="arabicPeriod"/>
            </a:pPr>
            <a:r>
              <a:rPr lang="en-US" sz="4051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Seuil anomalie : 28°C</a:t>
            </a:r>
          </a:p>
          <a:p>
            <a:pPr algn="l">
              <a:lnSpc>
                <a:spcPts val="5672"/>
              </a:lnSpc>
            </a:pPr>
            <a:endParaRPr lang="en-US" sz="4051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  <a:p>
            <a:pPr algn="ctr">
              <a:lnSpc>
                <a:spcPts val="4179"/>
              </a:lnSpc>
            </a:pPr>
            <a:endParaRPr lang="en-US" sz="4051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11" name="Freeform 11"/>
          <p:cNvSpPr/>
          <p:nvPr/>
        </p:nvSpPr>
        <p:spPr>
          <a:xfrm rot="1025034">
            <a:off x="12937714" y="4043368"/>
            <a:ext cx="1560259" cy="1560259"/>
          </a:xfrm>
          <a:custGeom>
            <a:avLst/>
            <a:gdLst/>
            <a:ahLst/>
            <a:cxnLst/>
            <a:rect l="l" t="t" r="r" b="b"/>
            <a:pathLst>
              <a:path w="1560259" h="1560259">
                <a:moveTo>
                  <a:pt x="0" y="0"/>
                </a:moveTo>
                <a:lnTo>
                  <a:pt x="1560259" y="0"/>
                </a:lnTo>
                <a:lnTo>
                  <a:pt x="1560259" y="1560259"/>
                </a:lnTo>
                <a:lnTo>
                  <a:pt x="0" y="156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982" y="229695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6" y="0"/>
                </a:lnTo>
                <a:lnTo>
                  <a:pt x="4422196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3312" y="3269115"/>
            <a:ext cx="8390688" cy="6680968"/>
          </a:xfrm>
          <a:custGeom>
            <a:avLst/>
            <a:gdLst/>
            <a:ahLst/>
            <a:cxnLst/>
            <a:rect l="l" t="t" r="r" b="b"/>
            <a:pathLst>
              <a:path w="8390688" h="6680968">
                <a:moveTo>
                  <a:pt x="0" y="0"/>
                </a:moveTo>
                <a:lnTo>
                  <a:pt x="8390688" y="0"/>
                </a:lnTo>
                <a:lnTo>
                  <a:pt x="8390688" y="6680968"/>
                </a:lnTo>
                <a:lnTo>
                  <a:pt x="0" y="6680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98" t="-3943" r="-16451" b="-194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79481" y="1905929"/>
            <a:ext cx="11929038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Mécanisme d’Auto-Adaptation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56252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7210" y="4046183"/>
            <a:ext cx="8115300" cy="40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Pourquoi ?</a:t>
            </a:r>
          </a:p>
          <a:p>
            <a:pPr marL="874792" lvl="1" indent="-437396" algn="l">
              <a:lnSpc>
                <a:spcPts val="5672"/>
              </a:lnSpc>
              <a:buFont typeface="Arial"/>
              <a:buChar char="•"/>
            </a:pPr>
            <a:r>
              <a:rPr lang="en-US" sz="4051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Pandas : </a:t>
            </a:r>
            <a:r>
              <a:rPr lang="en-US" sz="405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léger et rapide pour petites charges</a:t>
            </a:r>
          </a:p>
          <a:p>
            <a:pPr marL="874792" lvl="1" indent="-437396" algn="l">
              <a:lnSpc>
                <a:spcPts val="5672"/>
              </a:lnSpc>
              <a:buFont typeface="Arial"/>
              <a:buChar char="•"/>
            </a:pPr>
            <a:r>
              <a:rPr lang="en-US" sz="4051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Spark :</a:t>
            </a:r>
            <a:r>
              <a:rPr lang="en-US" sz="405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adapté aux charges élevées</a:t>
            </a:r>
          </a:p>
          <a:p>
            <a:pPr algn="ctr">
              <a:lnSpc>
                <a:spcPts val="4179"/>
              </a:lnSpc>
            </a:pPr>
            <a:endParaRPr lang="en-US" sz="4051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54882" y="3047528"/>
            <a:ext cx="8743570" cy="6210772"/>
          </a:xfrm>
          <a:custGeom>
            <a:avLst/>
            <a:gdLst/>
            <a:ahLst/>
            <a:cxnLst/>
            <a:rect l="l" t="t" r="r" b="b"/>
            <a:pathLst>
              <a:path w="8743570" h="6210772">
                <a:moveTo>
                  <a:pt x="0" y="0"/>
                </a:moveTo>
                <a:lnTo>
                  <a:pt x="8743569" y="0"/>
                </a:lnTo>
                <a:lnTo>
                  <a:pt x="8743569" y="6210772"/>
                </a:lnTo>
                <a:lnTo>
                  <a:pt x="0" y="6210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07" r="-330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0464" y="1435060"/>
            <a:ext cx="16808836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Détection d’Anomalies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49344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9582" y="4073527"/>
            <a:ext cx="8115300" cy="40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1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Mécanisme simple basé sur seuil</a:t>
            </a:r>
          </a:p>
          <a:p>
            <a:pPr marL="874792" lvl="1" indent="-437396" algn="l">
              <a:lnSpc>
                <a:spcPts val="5672"/>
              </a:lnSpc>
              <a:buFont typeface="Arial"/>
              <a:buChar char="•"/>
            </a:pPr>
            <a:r>
              <a:rPr lang="en-US" sz="405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Anomalie si température &gt; 28°C</a:t>
            </a:r>
          </a:p>
          <a:p>
            <a:pPr marL="874792" lvl="1" indent="-437396" algn="l">
              <a:lnSpc>
                <a:spcPts val="5672"/>
              </a:lnSpc>
              <a:buFont typeface="Arial"/>
              <a:buChar char="•"/>
            </a:pPr>
            <a:r>
              <a:rPr lang="en-US" sz="405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Comptage automatique</a:t>
            </a:r>
          </a:p>
          <a:p>
            <a:pPr marL="874792" lvl="1" indent="-437396" algn="l">
              <a:lnSpc>
                <a:spcPts val="5672"/>
              </a:lnSpc>
              <a:buFont typeface="Arial"/>
              <a:buChar char="•"/>
            </a:pPr>
            <a:r>
              <a:rPr lang="en-US" sz="405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Affichage dans dashboard</a:t>
            </a:r>
          </a:p>
          <a:p>
            <a:pPr algn="ctr">
              <a:lnSpc>
                <a:spcPts val="4179"/>
              </a:lnSpc>
            </a:pPr>
            <a:endParaRPr lang="en-US" sz="4051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004" y="0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974911"/>
            <a:ext cx="16205752" cy="5825403"/>
          </a:xfrm>
          <a:custGeom>
            <a:avLst/>
            <a:gdLst/>
            <a:ahLst/>
            <a:cxnLst/>
            <a:rect l="l" t="t" r="r" b="b"/>
            <a:pathLst>
              <a:path w="16205752" h="5825403">
                <a:moveTo>
                  <a:pt x="0" y="0"/>
                </a:moveTo>
                <a:lnTo>
                  <a:pt x="16205752" y="0"/>
                </a:lnTo>
                <a:lnTo>
                  <a:pt x="16205752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2672" b="-4267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2126" y="1808304"/>
            <a:ext cx="16808836" cy="86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Technologies utilisées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49344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6105" y="2032488"/>
            <a:ext cx="1051579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Démonstration 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224164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616994" y="9676606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5" name="Freeform 5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6350" y="4056380"/>
            <a:ext cx="8115300" cy="205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>
                <a:solidFill>
                  <a:srgbClr val="004AAD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Démonstration en temps réel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6411" y="1302138"/>
            <a:ext cx="10515790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Limites actuelles et Perspectives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163124" y="3109474"/>
            <a:ext cx="5563226" cy="6148826"/>
            <a:chOff x="0" y="0"/>
            <a:chExt cx="994463" cy="10991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94463" cy="1099142"/>
            </a:xfrm>
            <a:custGeom>
              <a:avLst/>
              <a:gdLst/>
              <a:ahLst/>
              <a:cxnLst/>
              <a:rect l="l" t="t" r="r" b="b"/>
              <a:pathLst>
                <a:path w="994463" h="1099142">
                  <a:moveTo>
                    <a:pt x="103800" y="0"/>
                  </a:moveTo>
                  <a:lnTo>
                    <a:pt x="890662" y="0"/>
                  </a:lnTo>
                  <a:cubicBezTo>
                    <a:pt x="947990" y="0"/>
                    <a:pt x="994463" y="46473"/>
                    <a:pt x="994463" y="103800"/>
                  </a:cubicBezTo>
                  <a:lnTo>
                    <a:pt x="994463" y="995342"/>
                  </a:lnTo>
                  <a:cubicBezTo>
                    <a:pt x="994463" y="1052669"/>
                    <a:pt x="947990" y="1099142"/>
                    <a:pt x="890662" y="1099142"/>
                  </a:cubicBezTo>
                  <a:lnTo>
                    <a:pt x="103800" y="1099142"/>
                  </a:lnTo>
                  <a:cubicBezTo>
                    <a:pt x="46473" y="1099142"/>
                    <a:pt x="0" y="1052669"/>
                    <a:pt x="0" y="995342"/>
                  </a:cubicBezTo>
                  <a:lnTo>
                    <a:pt x="0" y="103800"/>
                  </a:lnTo>
                  <a:cubicBezTo>
                    <a:pt x="0" y="46473"/>
                    <a:pt x="46473" y="0"/>
                    <a:pt x="103800" y="0"/>
                  </a:cubicBezTo>
                  <a:close/>
                </a:path>
              </a:pathLst>
            </a:custGeom>
            <a:solidFill>
              <a:srgbClr val="A0A0A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94463" cy="1203917"/>
            </a:xfrm>
            <a:prstGeom prst="rect">
              <a:avLst/>
            </a:prstGeom>
          </p:spPr>
          <p:txBody>
            <a:bodyPr lIns="44584" tIns="44584" rIns="44584" bIns="44584" rtlCol="0" anchor="ctr"/>
            <a:lstStyle/>
            <a:p>
              <a:pPr algn="l">
                <a:lnSpc>
                  <a:spcPts val="4553"/>
                </a:lnSpc>
              </a:pPr>
              <a:endParaRPr/>
            </a:p>
            <a:p>
              <a:pPr algn="l">
                <a:lnSpc>
                  <a:spcPts val="4553"/>
                </a:lnSpc>
              </a:pPr>
              <a:endParaRPr/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Seuil dynamique basé sur statistiques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Détection d’anomalies par Machine Learning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Déploiement cloud</a:t>
              </a:r>
            </a:p>
            <a:p>
              <a:pPr marL="626112" lvl="1" indent="-313056" algn="l">
                <a:lnSpc>
                  <a:spcPts val="4553"/>
                </a:lnSpc>
                <a:buFont typeface="Arial"/>
                <a:buChar char="•"/>
              </a:pPr>
              <a:r>
                <a: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rPr>
                <a:t>Base de données temps réel (InfluxDB)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119141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7" y="0"/>
                </a:lnTo>
                <a:lnTo>
                  <a:pt x="4422197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54150" y="4194095"/>
            <a:ext cx="1980312" cy="3134285"/>
            <a:chOff x="0" y="0"/>
            <a:chExt cx="521564" cy="8254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1564" cy="825491"/>
            </a:xfrm>
            <a:custGeom>
              <a:avLst/>
              <a:gdLst/>
              <a:ahLst/>
              <a:cxnLst/>
              <a:rect l="l" t="t" r="r" b="b"/>
              <a:pathLst>
                <a:path w="521564" h="825491">
                  <a:moveTo>
                    <a:pt x="521564" y="412745"/>
                  </a:moveTo>
                  <a:lnTo>
                    <a:pt x="115164" y="0"/>
                  </a:lnTo>
                  <a:lnTo>
                    <a:pt x="115164" y="203200"/>
                  </a:lnTo>
                  <a:lnTo>
                    <a:pt x="0" y="203200"/>
                  </a:lnTo>
                  <a:lnTo>
                    <a:pt x="0" y="622291"/>
                  </a:lnTo>
                  <a:lnTo>
                    <a:pt x="115164" y="622291"/>
                  </a:lnTo>
                  <a:lnTo>
                    <a:pt x="115164" y="825491"/>
                  </a:lnTo>
                  <a:lnTo>
                    <a:pt x="521564" y="412745"/>
                  </a:lnTo>
                  <a:close/>
                </a:path>
              </a:pathLst>
            </a:custGeom>
            <a:solidFill>
              <a:srgbClr val="E0E1E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165100"/>
              <a:ext cx="419964" cy="457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82288" y="3462926"/>
            <a:ext cx="4524899" cy="1318932"/>
            <a:chOff x="0" y="0"/>
            <a:chExt cx="1191743" cy="3473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1743" cy="347373"/>
            </a:xfrm>
            <a:custGeom>
              <a:avLst/>
              <a:gdLst/>
              <a:ahLst/>
              <a:cxnLst/>
              <a:rect l="l" t="t" r="r" b="b"/>
              <a:pathLst>
                <a:path w="1191743" h="347373">
                  <a:moveTo>
                    <a:pt x="988543" y="0"/>
                  </a:moveTo>
                  <a:cubicBezTo>
                    <a:pt x="1100767" y="0"/>
                    <a:pt x="1191743" y="77762"/>
                    <a:pt x="1191743" y="173687"/>
                  </a:cubicBezTo>
                  <a:cubicBezTo>
                    <a:pt x="1191743" y="269611"/>
                    <a:pt x="1100767" y="347373"/>
                    <a:pt x="988543" y="347373"/>
                  </a:cubicBezTo>
                  <a:lnTo>
                    <a:pt x="203200" y="347373"/>
                  </a:lnTo>
                  <a:cubicBezTo>
                    <a:pt x="90976" y="347373"/>
                    <a:pt x="0" y="269611"/>
                    <a:pt x="0" y="173687"/>
                  </a:cubicBezTo>
                  <a:cubicBezTo>
                    <a:pt x="0" y="7776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7B7B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91743" cy="385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11098" y="3109474"/>
            <a:ext cx="5643051" cy="6148826"/>
            <a:chOff x="0" y="0"/>
            <a:chExt cx="7524068" cy="8198434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524068" cy="8198434"/>
              <a:chOff x="0" y="0"/>
              <a:chExt cx="1008732" cy="109914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08732" cy="1099142"/>
              </a:xfrm>
              <a:custGeom>
                <a:avLst/>
                <a:gdLst/>
                <a:ahLst/>
                <a:cxnLst/>
                <a:rect l="l" t="t" r="r" b="b"/>
                <a:pathLst>
                  <a:path w="1008732" h="1099142">
                    <a:moveTo>
                      <a:pt x="102332" y="0"/>
                    </a:moveTo>
                    <a:lnTo>
                      <a:pt x="906400" y="0"/>
                    </a:lnTo>
                    <a:cubicBezTo>
                      <a:pt x="933540" y="0"/>
                      <a:pt x="959569" y="10781"/>
                      <a:pt x="978760" y="29972"/>
                    </a:cubicBezTo>
                    <a:cubicBezTo>
                      <a:pt x="997951" y="49163"/>
                      <a:pt x="1008732" y="75192"/>
                      <a:pt x="1008732" y="102332"/>
                    </a:cubicBezTo>
                    <a:lnTo>
                      <a:pt x="1008732" y="996810"/>
                    </a:lnTo>
                    <a:cubicBezTo>
                      <a:pt x="1008732" y="1053327"/>
                      <a:pt x="962916" y="1099142"/>
                      <a:pt x="906400" y="1099142"/>
                    </a:cubicBezTo>
                    <a:lnTo>
                      <a:pt x="102332" y="1099142"/>
                    </a:lnTo>
                    <a:cubicBezTo>
                      <a:pt x="45816" y="1099142"/>
                      <a:pt x="0" y="1053327"/>
                      <a:pt x="0" y="996810"/>
                    </a:cubicBezTo>
                    <a:lnTo>
                      <a:pt x="0" y="102332"/>
                    </a:lnTo>
                    <a:cubicBezTo>
                      <a:pt x="0" y="75192"/>
                      <a:pt x="10781" y="49163"/>
                      <a:pt x="29972" y="29972"/>
                    </a:cubicBezTo>
                    <a:cubicBezTo>
                      <a:pt x="49163" y="10781"/>
                      <a:pt x="75192" y="0"/>
                      <a:pt x="102332" y="0"/>
                    </a:cubicBezTo>
                    <a:close/>
                  </a:path>
                </a:pathLst>
              </a:custGeom>
              <a:solidFill>
                <a:srgbClr val="A0A0A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008732" cy="1146767"/>
              </a:xfrm>
              <a:prstGeom prst="rect">
                <a:avLst/>
              </a:prstGeom>
            </p:spPr>
            <p:txBody>
              <a:bodyPr lIns="44584" tIns="44584" rIns="44584" bIns="44584" rtlCol="0" anchor="ctr"/>
              <a:lstStyle/>
              <a:p>
                <a:pPr algn="l">
                  <a:lnSpc>
                    <a:spcPts val="3499"/>
                  </a:lnSpc>
                </a:pPr>
                <a:endParaRPr/>
              </a:p>
              <a:p>
                <a:pPr algn="l">
                  <a:lnSpc>
                    <a:spcPts val="3499"/>
                  </a:lnSpc>
                </a:pPr>
                <a:endParaRPr/>
              </a:p>
              <a:p>
                <a:pPr algn="l">
                  <a:lnSpc>
                    <a:spcPts val="3499"/>
                  </a:lnSpc>
                </a:pPr>
                <a:endParaRPr/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Seuil statique</a:t>
                </a:r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Stockage JSON non optimal</a:t>
                </a:r>
              </a:p>
              <a:p>
                <a:pPr marL="626111" lvl="1" indent="-313055" algn="l">
                  <a:lnSpc>
                    <a:spcPts val="4060"/>
                  </a:lnSpc>
                  <a:buFont typeface="Arial"/>
                  <a:buChar char="•"/>
                </a:pPr>
                <a:r>
                  <a:rPr lang="en-US" sz="2900">
                    <a:solidFill>
                      <a:srgbClr val="0A2647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Non distribué multi-nœuds</a:t>
                </a:r>
              </a:p>
              <a:p>
                <a:pPr algn="l">
                  <a:lnSpc>
                    <a:spcPts val="4060"/>
                  </a:lnSpc>
                </a:pPr>
                <a:endPara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endParaRPr>
              </a:p>
              <a:p>
                <a:pPr algn="l">
                  <a:lnSpc>
                    <a:spcPts val="4060"/>
                  </a:lnSpc>
                </a:pPr>
                <a:endParaRPr lang="en-US" sz="2900">
                  <a:solidFill>
                    <a:srgbClr val="0A2647"/>
                  </a:solidFill>
                  <a:latin typeface="Etna Sans Serif"/>
                  <a:ea typeface="Etna Sans Serif"/>
                  <a:cs typeface="Etna Sans Serif"/>
                  <a:sym typeface="Etna Sans Serif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53828" y="545356"/>
              <a:ext cx="6816412" cy="1822649"/>
              <a:chOff x="0" y="0"/>
              <a:chExt cx="1346452" cy="36002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46452" cy="360029"/>
              </a:xfrm>
              <a:custGeom>
                <a:avLst/>
                <a:gdLst/>
                <a:ahLst/>
                <a:cxnLst/>
                <a:rect l="l" t="t" r="r" b="b"/>
                <a:pathLst>
                  <a:path w="1346452" h="360029">
                    <a:moveTo>
                      <a:pt x="1143252" y="0"/>
                    </a:moveTo>
                    <a:cubicBezTo>
                      <a:pt x="1255476" y="0"/>
                      <a:pt x="1346452" y="80595"/>
                      <a:pt x="1346452" y="180015"/>
                    </a:cubicBezTo>
                    <a:cubicBezTo>
                      <a:pt x="1346452" y="279434"/>
                      <a:pt x="1255476" y="360029"/>
                      <a:pt x="1143252" y="360029"/>
                    </a:cubicBezTo>
                    <a:lnTo>
                      <a:pt x="203200" y="360029"/>
                    </a:lnTo>
                    <a:cubicBezTo>
                      <a:pt x="90976" y="360029"/>
                      <a:pt x="0" y="279434"/>
                      <a:pt x="0" y="180015"/>
                    </a:cubicBezTo>
                    <a:cubicBezTo>
                      <a:pt x="0" y="8059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7B7B7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1346452" cy="4171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79"/>
                  </a:lnSpc>
                </a:pPr>
                <a:r>
                  <a:rPr lang="en-US" sz="3199">
                    <a:solidFill>
                      <a:srgbClr val="000000"/>
                    </a:solidFill>
                    <a:latin typeface="Etna Sans Serif"/>
                    <a:ea typeface="Etna Sans Serif"/>
                    <a:cs typeface="Etna Sans Serif"/>
                    <a:sym typeface="Etna Sans Serif"/>
                  </a:rPr>
                  <a:t>→ Limites actuelles</a:t>
                </a:r>
              </a:p>
            </p:txBody>
          </p:sp>
        </p:grpSp>
      </p:grpSp>
      <p:sp>
        <p:nvSpPr>
          <p:cNvPr id="20" name="Freeform 20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-532620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3888" y="3254533"/>
            <a:ext cx="4863298" cy="1669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0"/>
              </a:lnSpc>
            </a:pPr>
            <a:endParaRPr/>
          </a:p>
          <a:p>
            <a:pPr algn="ctr">
              <a:lnSpc>
                <a:spcPts val="4450"/>
              </a:lnSpc>
            </a:pPr>
            <a:r>
              <a:rPr lang="en-US" sz="3178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→  Perspectives</a:t>
            </a:r>
          </a:p>
          <a:p>
            <a:pPr algn="ctr">
              <a:lnSpc>
                <a:spcPts val="4450"/>
              </a:lnSpc>
            </a:pPr>
            <a:endParaRPr lang="en-US" sz="3178">
              <a:solidFill>
                <a:srgbClr val="080606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8678" y="2518598"/>
            <a:ext cx="4421540" cy="6172200"/>
          </a:xfrm>
          <a:custGeom>
            <a:avLst/>
            <a:gdLst/>
            <a:ahLst/>
            <a:cxnLst/>
            <a:rect l="l" t="t" r="r" b="b"/>
            <a:pathLst>
              <a:path w="4421540" h="6172200">
                <a:moveTo>
                  <a:pt x="0" y="0"/>
                </a:moveTo>
                <a:lnTo>
                  <a:pt x="4421540" y="0"/>
                </a:lnTo>
                <a:lnTo>
                  <a:pt x="442154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982" y="176982"/>
            <a:ext cx="4422197" cy="1068698"/>
          </a:xfrm>
          <a:custGeom>
            <a:avLst/>
            <a:gdLst/>
            <a:ahLst/>
            <a:cxnLst/>
            <a:rect l="l" t="t" r="r" b="b"/>
            <a:pathLst>
              <a:path w="4422197" h="1068698">
                <a:moveTo>
                  <a:pt x="0" y="0"/>
                </a:moveTo>
                <a:lnTo>
                  <a:pt x="4422196" y="0"/>
                </a:lnTo>
                <a:lnTo>
                  <a:pt x="4422196" y="1068697"/>
                </a:lnTo>
                <a:lnTo>
                  <a:pt x="0" y="106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97641" y="2877313"/>
            <a:ext cx="11452914" cy="558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17"/>
              </a:lnSpc>
            </a:pPr>
            <a:r>
              <a:rPr lang="en-US" sz="14417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MERCI POUR VOTRE ATTENTION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14652" y="9567813"/>
            <a:ext cx="376295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  <p:sp>
        <p:nvSpPr>
          <p:cNvPr id="6" name="Freeform 6"/>
          <p:cNvSpPr/>
          <p:nvPr/>
        </p:nvSpPr>
        <p:spPr>
          <a:xfrm>
            <a:off x="17259300" y="9090252"/>
            <a:ext cx="1286420" cy="1284812"/>
          </a:xfrm>
          <a:custGeom>
            <a:avLst/>
            <a:gdLst/>
            <a:ahLst/>
            <a:cxnLst/>
            <a:rect l="l" t="t" r="r" b="b"/>
            <a:pathLst>
              <a:path w="1286420" h="1284812">
                <a:moveTo>
                  <a:pt x="0" y="0"/>
                </a:moveTo>
                <a:lnTo>
                  <a:pt x="1286420" y="0"/>
                </a:lnTo>
                <a:lnTo>
                  <a:pt x="1286420" y="1284812"/>
                </a:lnTo>
                <a:lnTo>
                  <a:pt x="0" y="1284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936309" y="9501773"/>
            <a:ext cx="37629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4098</TotalTime>
  <Words>312</Words>
  <Application>Microsoft Office PowerPoint</Application>
  <PresentationFormat>Custom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Etna Sans Serif</vt:lpstr>
      <vt:lpstr>Celandine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Roadmap Illustrative Presentation</dc:title>
  <cp:lastModifiedBy>Samah Boudallaa</cp:lastModifiedBy>
  <cp:revision>2</cp:revision>
  <dcterms:created xsi:type="dcterms:W3CDTF">2006-08-16T00:00:00Z</dcterms:created>
  <dcterms:modified xsi:type="dcterms:W3CDTF">2026-02-16T19:49:28Z</dcterms:modified>
  <dc:identifier>DAG79pKXe9Q</dc:identifier>
</cp:coreProperties>
</file>