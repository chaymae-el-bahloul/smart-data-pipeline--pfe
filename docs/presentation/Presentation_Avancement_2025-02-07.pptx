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elandine" panose="020B0604020202020204" charset="0"/>
      <p:regular r:id="rId14"/>
    </p:embeddedFont>
    <p:embeddedFont>
      <p:font typeface="Etna Sans Serif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.svg"/><Relationship Id="rId5" Type="http://schemas.openxmlformats.org/officeDocument/2006/relationships/image" Target="../media/image6.sv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44236" y="-529720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8277" y="270831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32119" y="5919754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2231" y="3760669"/>
            <a:ext cx="12932805" cy="274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Smart Data Pipeline </a:t>
            </a:r>
            <a:r>
              <a:rPr lang="en-US" sz="7072">
                <a:solidFill>
                  <a:srgbClr val="3A7BF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Auto</a:t>
            </a: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-Adaptatif pour la Gestion Intelligente des Flux de Données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56203" y="1716243"/>
            <a:ext cx="1984148" cy="19841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52468" y="1912507"/>
            <a:ext cx="1591619" cy="1591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40045" y="4838969"/>
            <a:ext cx="1984148" cy="19841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936309" y="5035233"/>
            <a:ext cx="1591619" cy="15916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248024" y="5281437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548202" y="2071575"/>
            <a:ext cx="1200151" cy="1140143"/>
          </a:xfrm>
          <a:custGeom>
            <a:avLst/>
            <a:gdLst/>
            <a:ahLst/>
            <a:cxnLst/>
            <a:rect l="l" t="t" r="r" b="b"/>
            <a:pathLst>
              <a:path w="1200151" h="1140143">
                <a:moveTo>
                  <a:pt x="0" y="0"/>
                </a:moveTo>
                <a:lnTo>
                  <a:pt x="1200150" y="0"/>
                </a:lnTo>
                <a:lnTo>
                  <a:pt x="1200150" y="1140143"/>
                </a:lnTo>
                <a:lnTo>
                  <a:pt x="0" y="1140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831325" y="355332"/>
            <a:ext cx="7101696" cy="1716243"/>
          </a:xfrm>
          <a:custGeom>
            <a:avLst/>
            <a:gdLst/>
            <a:ahLst/>
            <a:cxnLst/>
            <a:rect l="l" t="t" r="r" b="b"/>
            <a:pathLst>
              <a:path w="7101696" h="1716243">
                <a:moveTo>
                  <a:pt x="0" y="0"/>
                </a:moveTo>
                <a:lnTo>
                  <a:pt x="7101695" y="0"/>
                </a:lnTo>
                <a:lnTo>
                  <a:pt x="7101695" y="1716243"/>
                </a:lnTo>
                <a:lnTo>
                  <a:pt x="0" y="17162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455036" y="8544660"/>
            <a:ext cx="4237600" cy="932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Encadré par :</a:t>
            </a:r>
          </a:p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Pr. Anas BERKA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1325" y="7746465"/>
            <a:ext cx="4428740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Présenté par 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BOUDALLAA SAMAH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BAHLOUL CHAYMAE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BASRI KHADIJA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0069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259300" y="8624123"/>
            <a:ext cx="146764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8060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062">
            <a:off x="-357485" y="-90215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062">
            <a:off x="3705162" y="200400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88062">
            <a:off x="7597022" y="380511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8062">
            <a:off x="11830457" y="6192456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88062">
            <a:off x="16261477" y="911045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911911" y="2045574"/>
            <a:ext cx="1664944" cy="16649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76601" y="2210264"/>
            <a:ext cx="1335564" cy="13355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40846" y="239968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87361" y="4315463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2051" y="4480153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43608" y="6180257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08297" y="6344947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7514195" y="4598328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362007" y="6545778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79322" y="214043"/>
            <a:ext cx="7315200" cy="3044952"/>
          </a:xfrm>
          <a:custGeom>
            <a:avLst/>
            <a:gdLst/>
            <a:ahLst/>
            <a:cxnLst/>
            <a:rect l="l" t="t" r="r" b="b"/>
            <a:pathLst>
              <a:path w="7315200" h="3044952">
                <a:moveTo>
                  <a:pt x="0" y="0"/>
                </a:moveTo>
                <a:lnTo>
                  <a:pt x="7315200" y="0"/>
                </a:lnTo>
                <a:lnTo>
                  <a:pt x="7315200" y="3044952"/>
                </a:lnTo>
                <a:lnTo>
                  <a:pt x="0" y="3044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638517" y="1043215"/>
            <a:ext cx="3085009" cy="11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Objectifs du projet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23526" y="257513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04834" y="4416148"/>
            <a:ext cx="2967404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Choix technologiques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-457290" y="2756894"/>
            <a:ext cx="3752791" cy="171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et problématique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94314" y="6709821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État d’avancement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-124441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120639" y="7084246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et perspectives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62007" y="454117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Démo conceptuelle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51914" y="848005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 &amp; Solutions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2353" y="3595643"/>
            <a:ext cx="3706795" cy="4562209"/>
            <a:chOff x="0" y="0"/>
            <a:chExt cx="6604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45601" y="3595643"/>
            <a:ext cx="3706795" cy="456220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28848" y="3595643"/>
            <a:ext cx="3706795" cy="4562209"/>
            <a:chOff x="0" y="0"/>
            <a:chExt cx="6604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12096" y="3595643"/>
            <a:ext cx="3706795" cy="4562209"/>
            <a:chOff x="0" y="0"/>
            <a:chExt cx="6604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83278" y="2763171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47968" y="2927861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06554" y="2763171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1244" y="2927861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45812" y="2763171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10502" y="2927861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825099" y="2763171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989788" y="2927861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2612213" y="3117283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666162" y="3046036"/>
            <a:ext cx="945729" cy="1027967"/>
          </a:xfrm>
          <a:custGeom>
            <a:avLst/>
            <a:gdLst/>
            <a:ahLst/>
            <a:cxnLst/>
            <a:rect l="l" t="t" r="r" b="b"/>
            <a:pathLst>
              <a:path w="945729" h="1027967">
                <a:moveTo>
                  <a:pt x="0" y="0"/>
                </a:moveTo>
                <a:lnTo>
                  <a:pt x="945729" y="0"/>
                </a:lnTo>
                <a:lnTo>
                  <a:pt x="945729" y="1027967"/>
                </a:lnTo>
                <a:lnTo>
                  <a:pt x="0" y="102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945851" y="3155148"/>
            <a:ext cx="1064867" cy="809743"/>
          </a:xfrm>
          <a:custGeom>
            <a:avLst/>
            <a:gdLst/>
            <a:ahLst/>
            <a:cxnLst/>
            <a:rect l="l" t="t" r="r" b="b"/>
            <a:pathLst>
              <a:path w="1064867" h="809743">
                <a:moveTo>
                  <a:pt x="0" y="0"/>
                </a:moveTo>
                <a:lnTo>
                  <a:pt x="1064867" y="0"/>
                </a:lnTo>
                <a:lnTo>
                  <a:pt x="1064867" y="809743"/>
                </a:lnTo>
                <a:lnTo>
                  <a:pt x="0" y="80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5249258" y="3179407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208400" y="7987758"/>
            <a:ext cx="1703363" cy="1735911"/>
          </a:xfrm>
          <a:custGeom>
            <a:avLst/>
            <a:gdLst/>
            <a:ahLst/>
            <a:cxnLst/>
            <a:rect l="l" t="t" r="r" b="b"/>
            <a:pathLst>
              <a:path w="1703363" h="1735911">
                <a:moveTo>
                  <a:pt x="0" y="0"/>
                </a:moveTo>
                <a:lnTo>
                  <a:pt x="1703363" y="0"/>
                </a:lnTo>
                <a:lnTo>
                  <a:pt x="1703363" y="1735911"/>
                </a:lnTo>
                <a:lnTo>
                  <a:pt x="0" y="1735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783532" y="941818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&amp; PROBLÉMATIQUE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32011" y="5082908"/>
            <a:ext cx="296748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Explosion des données (IoT, applications, log)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77064" y="5301983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Données continues et hétérogènes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94097" y="5366118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Pipelines classiques rigides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115066" y="5301983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Intervention humaine élevée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81467" y="8798563"/>
            <a:ext cx="9850683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Problématique :  </a:t>
            </a:r>
            <a:r>
              <a:rPr lang="en-US" sz="29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Comment rendre un pipeline de données intelligent et auto-adaptatif ?</a:t>
            </a:r>
          </a:p>
        </p:txBody>
      </p:sp>
      <p:sp>
        <p:nvSpPr>
          <p:cNvPr id="49" name="Freeform 49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0" y="9676044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4217" y="1358444"/>
            <a:ext cx="7815781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OBJECTIFS DU PFE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4593" y="4683945"/>
            <a:ext cx="3724048" cy="4109294"/>
            <a:chOff x="0" y="0"/>
            <a:chExt cx="7366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29391" y="4683945"/>
            <a:ext cx="3724048" cy="4109294"/>
            <a:chOff x="0" y="0"/>
            <a:chExt cx="7366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77252" y="4683945"/>
            <a:ext cx="3724048" cy="4109294"/>
            <a:chOff x="0" y="0"/>
            <a:chExt cx="7366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80828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97733" y="4683945"/>
            <a:ext cx="3724048" cy="4109294"/>
            <a:chOff x="0" y="0"/>
            <a:chExt cx="7366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2878" y="6284567"/>
            <a:ext cx="296748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Gérer les flux en temps réel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45442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S’adapter aux variations de charge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83081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Réduire l’intervention humaine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17253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Améliorer la performance et la fiabilité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004145" y="8149744"/>
            <a:ext cx="1664944" cy="166494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68391" y="8314434"/>
            <a:ext cx="1335564" cy="133556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332636" y="850385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6181693" y="8149744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46383" y="8314434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44789" y="7916277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609479" y="8080967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485777" y="8403536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4427285" y="7985054"/>
            <a:ext cx="1664944" cy="166494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591975" y="8202705"/>
            <a:ext cx="1335564" cy="133556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870901" y="8425828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663189" y="8403536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2332636" y="2851698"/>
            <a:ext cx="15236318" cy="122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 général :</a:t>
            </a:r>
          </a:p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                       Concevoir un pipeline de données intelligent et auto-adaptatif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537" y="179256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-528601" y="960237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7461765" y="8624123"/>
            <a:ext cx="11646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929" y="1431998"/>
            <a:ext cx="16808836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Choix </a:t>
            </a:r>
            <a:r>
              <a:rPr lang="en-US" sz="65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technologiques</a:t>
            </a:r>
            <a:endParaRPr lang="en-US" sz="65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8039" y="2557084"/>
            <a:ext cx="15511922" cy="6647429"/>
          </a:xfrm>
          <a:custGeom>
            <a:avLst/>
            <a:gdLst/>
            <a:ahLst/>
            <a:cxnLst/>
            <a:rect l="l" t="t" r="r" b="b"/>
            <a:pathLst>
              <a:path w="15511922" h="6647429">
                <a:moveTo>
                  <a:pt x="0" y="0"/>
                </a:moveTo>
                <a:lnTo>
                  <a:pt x="15511922" y="0"/>
                </a:lnTo>
                <a:lnTo>
                  <a:pt x="15511922" y="6647429"/>
                </a:lnTo>
                <a:lnTo>
                  <a:pt x="0" y="6647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981" b="-2548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49344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61765" y="8624123"/>
            <a:ext cx="11646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10502" y="2927861"/>
            <a:ext cx="1335564" cy="186623"/>
            <a:chOff x="0" y="0"/>
            <a:chExt cx="812800" cy="113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13575"/>
            </a:xfrm>
            <a:custGeom>
              <a:avLst/>
              <a:gdLst/>
              <a:ahLst/>
              <a:cxnLst/>
              <a:rect l="l" t="t" r="r" b="b"/>
              <a:pathLst>
                <a:path w="812800" h="113575">
                  <a:moveTo>
                    <a:pt x="406400" y="0"/>
                  </a:moveTo>
                  <a:cubicBezTo>
                    <a:pt x="181951" y="0"/>
                    <a:pt x="0" y="25425"/>
                    <a:pt x="0" y="56788"/>
                  </a:cubicBezTo>
                  <a:cubicBezTo>
                    <a:pt x="0" y="88150"/>
                    <a:pt x="181951" y="113575"/>
                    <a:pt x="406400" y="113575"/>
                  </a:cubicBezTo>
                  <a:cubicBezTo>
                    <a:pt x="630849" y="113575"/>
                    <a:pt x="812800" y="88150"/>
                    <a:pt x="812800" y="56788"/>
                  </a:cubicBezTo>
                  <a:cubicBezTo>
                    <a:pt x="812800" y="2542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7452"/>
              <a:ext cx="660400" cy="130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62958" y="1940427"/>
            <a:ext cx="9818668" cy="309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9"/>
              </a:lnSpc>
            </a:pPr>
            <a:r>
              <a:rPr lang="en-US" sz="606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 du Smart Data Pipeline</a:t>
            </a:r>
          </a:p>
          <a:p>
            <a:pPr algn="ctr">
              <a:lnSpc>
                <a:spcPts val="6069"/>
              </a:lnSpc>
            </a:pPr>
            <a:endParaRPr lang="en-US" sz="606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6069"/>
              </a:lnSpc>
            </a:pPr>
            <a:endParaRPr lang="en-US" sz="606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66489" y="252393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53628" y="3432897"/>
            <a:ext cx="15871261" cy="5825403"/>
          </a:xfrm>
          <a:custGeom>
            <a:avLst/>
            <a:gdLst/>
            <a:ahLst/>
            <a:cxnLst/>
            <a:rect l="l" t="t" r="r" b="b"/>
            <a:pathLst>
              <a:path w="15871261" h="5825403">
                <a:moveTo>
                  <a:pt x="0" y="0"/>
                </a:moveTo>
                <a:lnTo>
                  <a:pt x="15871262" y="0"/>
                </a:lnTo>
                <a:lnTo>
                  <a:pt x="15871262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759" b="-4075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9645" y="3909279"/>
            <a:ext cx="3169004" cy="3423213"/>
            <a:chOff x="0" y="0"/>
            <a:chExt cx="1688323" cy="1823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8323" cy="1823756"/>
            </a:xfrm>
            <a:custGeom>
              <a:avLst/>
              <a:gdLst/>
              <a:ahLst/>
              <a:cxnLst/>
              <a:rect l="l" t="t" r="r" b="b"/>
              <a:pathLst>
                <a:path w="1688323" h="1823756">
                  <a:moveTo>
                    <a:pt x="0" y="0"/>
                  </a:moveTo>
                  <a:lnTo>
                    <a:pt x="1485123" y="0"/>
                  </a:lnTo>
                  <a:lnTo>
                    <a:pt x="1688323" y="911878"/>
                  </a:lnTo>
                  <a:lnTo>
                    <a:pt x="1485123" y="1823756"/>
                  </a:lnTo>
                  <a:lnTo>
                    <a:pt x="0" y="1823756"/>
                  </a:lnTo>
                  <a:lnTo>
                    <a:pt x="203200" y="91187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6F6D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77800" y="-38100"/>
              <a:ext cx="1434323" cy="1861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76449" y="3865136"/>
            <a:ext cx="2967551" cy="3467357"/>
            <a:chOff x="0" y="0"/>
            <a:chExt cx="2014120" cy="2353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4120" cy="2353346"/>
            </a:xfrm>
            <a:custGeom>
              <a:avLst/>
              <a:gdLst/>
              <a:ahLst/>
              <a:cxnLst/>
              <a:rect l="l" t="t" r="r" b="b"/>
              <a:pathLst>
                <a:path w="2014120" h="2353346">
                  <a:moveTo>
                    <a:pt x="0" y="0"/>
                  </a:moveTo>
                  <a:lnTo>
                    <a:pt x="1810920" y="0"/>
                  </a:lnTo>
                  <a:lnTo>
                    <a:pt x="2014120" y="1176673"/>
                  </a:lnTo>
                  <a:lnTo>
                    <a:pt x="1810920" y="2353346"/>
                  </a:lnTo>
                  <a:lnTo>
                    <a:pt x="0" y="2353346"/>
                  </a:lnTo>
                  <a:lnTo>
                    <a:pt x="203200" y="11766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6F6DFF">
                    <a:alpha val="100000"/>
                  </a:srgbClr>
                </a:gs>
                <a:gs pos="100000">
                  <a:srgbClr val="120FB4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1760120" cy="2391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38512" y="3844272"/>
            <a:ext cx="3079840" cy="3488220"/>
            <a:chOff x="0" y="0"/>
            <a:chExt cx="1989315" cy="22530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9315" cy="2253094"/>
            </a:xfrm>
            <a:custGeom>
              <a:avLst/>
              <a:gdLst/>
              <a:ahLst/>
              <a:cxnLst/>
              <a:rect l="l" t="t" r="r" b="b"/>
              <a:pathLst>
                <a:path w="1989315" h="2253094">
                  <a:moveTo>
                    <a:pt x="0" y="0"/>
                  </a:moveTo>
                  <a:lnTo>
                    <a:pt x="1786115" y="0"/>
                  </a:lnTo>
                  <a:lnTo>
                    <a:pt x="1989315" y="1126547"/>
                  </a:lnTo>
                  <a:lnTo>
                    <a:pt x="1786115" y="2253094"/>
                  </a:lnTo>
                  <a:lnTo>
                    <a:pt x="0" y="2253094"/>
                  </a:lnTo>
                  <a:lnTo>
                    <a:pt x="203200" y="11265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6F6DFF">
                    <a:alpha val="100000"/>
                  </a:srgbClr>
                </a:gs>
                <a:gs pos="100000">
                  <a:srgbClr val="120FB4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77800" y="-38100"/>
              <a:ext cx="1735315" cy="229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32702" y="3803672"/>
            <a:ext cx="2929082" cy="3507957"/>
            <a:chOff x="0" y="0"/>
            <a:chExt cx="1988010" cy="23809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8010" cy="2380901"/>
            </a:xfrm>
            <a:custGeom>
              <a:avLst/>
              <a:gdLst/>
              <a:ahLst/>
              <a:cxnLst/>
              <a:rect l="l" t="t" r="r" b="b"/>
              <a:pathLst>
                <a:path w="1988010" h="2380901">
                  <a:moveTo>
                    <a:pt x="0" y="0"/>
                  </a:moveTo>
                  <a:lnTo>
                    <a:pt x="1784810" y="0"/>
                  </a:lnTo>
                  <a:lnTo>
                    <a:pt x="1988010" y="1190451"/>
                  </a:lnTo>
                  <a:lnTo>
                    <a:pt x="1784810" y="2380901"/>
                  </a:lnTo>
                  <a:lnTo>
                    <a:pt x="0" y="2380901"/>
                  </a:lnTo>
                  <a:lnTo>
                    <a:pt x="203200" y="1190451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6F6D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177800" y="-38100"/>
              <a:ext cx="1734010" cy="241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706706" y="1928886"/>
            <a:ext cx="1051579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État </a:t>
            </a:r>
            <a:r>
              <a:rPr lang="en-US" sz="65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d’avancement</a:t>
            </a:r>
            <a:endParaRPr lang="en-US" sz="65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76982" y="229695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-562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44737" y="4599354"/>
            <a:ext cx="2218821" cy="177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394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Kafka configuré avec KRaft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1825" y="4289735"/>
            <a:ext cx="2413726" cy="238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Producer / Consumer Python fonctionnels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45213" y="4675079"/>
            <a:ext cx="1866438" cy="178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Tests validés en local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92582" y="4570252"/>
            <a:ext cx="2631102" cy="17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Architecture </a:t>
            </a:r>
            <a:r>
              <a:rPr lang="en-US" sz="3389" dirty="0" err="1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testée</a:t>
            </a:r>
            <a:r>
              <a:rPr lang="en-US" sz="3389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end-to-end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88720" y="8624123"/>
            <a:ext cx="18670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2080" y="1335445"/>
            <a:ext cx="11125295" cy="836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500" b="1" dirty="0" err="1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Démonstration</a:t>
            </a:r>
            <a:r>
              <a:rPr lang="en-US" sz="6500" b="1" dirty="0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 </a:t>
            </a:r>
            <a:r>
              <a:rPr lang="en-US" sz="6500" b="1" dirty="0" err="1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conceptuelle</a:t>
            </a:r>
            <a:endParaRPr lang="en-US" sz="6500" b="1" dirty="0">
              <a:solidFill>
                <a:srgbClr val="080606"/>
              </a:solidFill>
              <a:latin typeface="Etna Sans Serif" panose="020B0604020202020204" charset="0"/>
              <a:ea typeface="Etna Sans Serif"/>
              <a:cs typeface="Times New Roman" panose="02020603050405020304" pitchFamily="18" charset="0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224164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69698" y="2320120"/>
            <a:ext cx="16770061" cy="7170109"/>
          </a:xfrm>
          <a:custGeom>
            <a:avLst/>
            <a:gdLst/>
            <a:ahLst/>
            <a:cxnLst/>
            <a:rect l="l" t="t" r="r" b="b"/>
            <a:pathLst>
              <a:path w="16770061" h="7170109">
                <a:moveTo>
                  <a:pt x="0" y="0"/>
                </a:moveTo>
                <a:lnTo>
                  <a:pt x="16770062" y="0"/>
                </a:lnTo>
                <a:lnTo>
                  <a:pt x="16770062" y="7170109"/>
                </a:lnTo>
                <a:lnTo>
                  <a:pt x="0" y="7170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972" r="-282" b="-929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616994" y="9676606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1223" y="1116250"/>
            <a:ext cx="10515790" cy="165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</a:t>
            </a: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rencontrées</a:t>
            </a: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&amp; Solutions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apportées</a:t>
            </a:r>
            <a:endParaRPr lang="en-US" sz="64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90845" y="147813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10851" y="3266674"/>
            <a:ext cx="5380991" cy="6089556"/>
            <a:chOff x="0" y="0"/>
            <a:chExt cx="961887" cy="10885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1887" cy="1088548"/>
            </a:xfrm>
            <a:custGeom>
              <a:avLst/>
              <a:gdLst/>
              <a:ahLst/>
              <a:cxnLst/>
              <a:rect l="l" t="t" r="r" b="b"/>
              <a:pathLst>
                <a:path w="961887" h="1088548">
                  <a:moveTo>
                    <a:pt x="107316" y="0"/>
                  </a:moveTo>
                  <a:lnTo>
                    <a:pt x="854571" y="0"/>
                  </a:lnTo>
                  <a:cubicBezTo>
                    <a:pt x="883033" y="0"/>
                    <a:pt x="910329" y="11306"/>
                    <a:pt x="930455" y="31432"/>
                  </a:cubicBezTo>
                  <a:cubicBezTo>
                    <a:pt x="950581" y="51558"/>
                    <a:pt x="961887" y="78854"/>
                    <a:pt x="961887" y="107316"/>
                  </a:cubicBezTo>
                  <a:lnTo>
                    <a:pt x="961887" y="981232"/>
                  </a:lnTo>
                  <a:cubicBezTo>
                    <a:pt x="961887" y="1009694"/>
                    <a:pt x="950581" y="1036990"/>
                    <a:pt x="930455" y="1057115"/>
                  </a:cubicBezTo>
                  <a:cubicBezTo>
                    <a:pt x="910329" y="1077241"/>
                    <a:pt x="883033" y="1088548"/>
                    <a:pt x="854571" y="1088548"/>
                  </a:cubicBezTo>
                  <a:lnTo>
                    <a:pt x="107316" y="1088548"/>
                  </a:lnTo>
                  <a:cubicBezTo>
                    <a:pt x="78854" y="1088548"/>
                    <a:pt x="51558" y="1077241"/>
                    <a:pt x="31432" y="1057115"/>
                  </a:cubicBezTo>
                  <a:cubicBezTo>
                    <a:pt x="11306" y="1036990"/>
                    <a:pt x="0" y="1009694"/>
                    <a:pt x="0" y="981232"/>
                  </a:cubicBezTo>
                  <a:lnTo>
                    <a:pt x="0" y="107316"/>
                  </a:lnTo>
                  <a:cubicBezTo>
                    <a:pt x="0" y="78854"/>
                    <a:pt x="11306" y="51558"/>
                    <a:pt x="31432" y="31432"/>
                  </a:cubicBezTo>
                  <a:cubicBezTo>
                    <a:pt x="51558" y="11306"/>
                    <a:pt x="78854" y="0"/>
                    <a:pt x="107316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61887" cy="1145698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357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44680" y="3266673"/>
            <a:ext cx="5243407" cy="6089556"/>
            <a:chOff x="0" y="0"/>
            <a:chExt cx="937293" cy="10885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7293" cy="1088548"/>
            </a:xfrm>
            <a:custGeom>
              <a:avLst/>
              <a:gdLst/>
              <a:ahLst/>
              <a:cxnLst/>
              <a:rect l="l" t="t" r="r" b="b"/>
              <a:pathLst>
                <a:path w="937293" h="1088548">
                  <a:moveTo>
                    <a:pt x="110132" y="0"/>
                  </a:moveTo>
                  <a:lnTo>
                    <a:pt x="827161" y="0"/>
                  </a:lnTo>
                  <a:cubicBezTo>
                    <a:pt x="856370" y="0"/>
                    <a:pt x="884382" y="11603"/>
                    <a:pt x="905036" y="32257"/>
                  </a:cubicBezTo>
                  <a:cubicBezTo>
                    <a:pt x="925690" y="52910"/>
                    <a:pt x="937293" y="80923"/>
                    <a:pt x="937293" y="110132"/>
                  </a:cubicBezTo>
                  <a:lnTo>
                    <a:pt x="937293" y="978416"/>
                  </a:lnTo>
                  <a:cubicBezTo>
                    <a:pt x="937293" y="1007625"/>
                    <a:pt x="925690" y="1035637"/>
                    <a:pt x="905036" y="1056291"/>
                  </a:cubicBezTo>
                  <a:cubicBezTo>
                    <a:pt x="884382" y="1076944"/>
                    <a:pt x="856370" y="1088548"/>
                    <a:pt x="827161" y="1088548"/>
                  </a:cubicBezTo>
                  <a:lnTo>
                    <a:pt x="110132" y="1088548"/>
                  </a:lnTo>
                  <a:cubicBezTo>
                    <a:pt x="80923" y="1088548"/>
                    <a:pt x="52910" y="1076944"/>
                    <a:pt x="32257" y="1056291"/>
                  </a:cubicBezTo>
                  <a:cubicBezTo>
                    <a:pt x="11603" y="1035637"/>
                    <a:pt x="0" y="1007625"/>
                    <a:pt x="0" y="978416"/>
                  </a:cubicBezTo>
                  <a:lnTo>
                    <a:pt x="0" y="110132"/>
                  </a:lnTo>
                  <a:cubicBezTo>
                    <a:pt x="0" y="80923"/>
                    <a:pt x="11603" y="52910"/>
                    <a:pt x="32257" y="32257"/>
                  </a:cubicBezTo>
                  <a:cubicBezTo>
                    <a:pt x="52910" y="11603"/>
                    <a:pt x="80923" y="0"/>
                    <a:pt x="110132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37293" cy="1145698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3574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49251" y="3472377"/>
            <a:ext cx="4524899" cy="1318932"/>
            <a:chOff x="0" y="0"/>
            <a:chExt cx="1191743" cy="3473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603934" y="3472377"/>
            <a:ext cx="4524899" cy="1318932"/>
            <a:chOff x="0" y="0"/>
            <a:chExt cx="1191743" cy="3473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91843" y="4588490"/>
            <a:ext cx="1980312" cy="3134285"/>
            <a:chOff x="0" y="0"/>
            <a:chExt cx="521564" cy="8254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564" cy="825491"/>
            </a:xfrm>
            <a:custGeom>
              <a:avLst/>
              <a:gdLst/>
              <a:ahLst/>
              <a:cxnLst/>
              <a:rect l="l" t="t" r="r" b="b"/>
              <a:pathLst>
                <a:path w="521564" h="825491">
                  <a:moveTo>
                    <a:pt x="521564" y="412745"/>
                  </a:moveTo>
                  <a:lnTo>
                    <a:pt x="115164" y="0"/>
                  </a:lnTo>
                  <a:lnTo>
                    <a:pt x="115164" y="203200"/>
                  </a:lnTo>
                  <a:lnTo>
                    <a:pt x="0" y="203200"/>
                  </a:lnTo>
                  <a:lnTo>
                    <a:pt x="0" y="622291"/>
                  </a:lnTo>
                  <a:lnTo>
                    <a:pt x="115164" y="622291"/>
                  </a:lnTo>
                  <a:lnTo>
                    <a:pt x="115164" y="825491"/>
                  </a:lnTo>
                  <a:lnTo>
                    <a:pt x="521564" y="412745"/>
                  </a:ln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165100"/>
              <a:ext cx="419964" cy="457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75196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49251" y="3817835"/>
            <a:ext cx="45248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03934" y="3817835"/>
            <a:ext cx="45248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78226" y="4984339"/>
            <a:ext cx="4539041" cy="513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Configuration Kafka et </a:t>
            </a:r>
            <a:r>
              <a:rPr lang="en-US" sz="2899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KRaft</a:t>
            </a: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Versions Java incompatibles au </a:t>
            </a:r>
            <a:r>
              <a:rPr lang="en-US" sz="2899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départ</a:t>
            </a: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Gestion des offsets dans les consumer groups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89792" y="4984339"/>
            <a:ext cx="4539041" cy="513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Passage à KRaft pour Kafka standalone</a:t>
            </a: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Standardisation du format JSON</a:t>
            </a: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Gestion des consumer groups correctement configurée</a:t>
            </a: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0338" y="1143000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&amp; Prochaines étapes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05800" y="2877391"/>
            <a:ext cx="5201697" cy="6268850"/>
            <a:chOff x="0" y="0"/>
            <a:chExt cx="929837" cy="1120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837" cy="1120597"/>
            </a:xfrm>
            <a:custGeom>
              <a:avLst/>
              <a:gdLst/>
              <a:ahLst/>
              <a:cxnLst/>
              <a:rect l="l" t="t" r="r" b="b"/>
              <a:pathLst>
                <a:path w="929837" h="1120597">
                  <a:moveTo>
                    <a:pt x="111015" y="0"/>
                  </a:moveTo>
                  <a:lnTo>
                    <a:pt x="818822" y="0"/>
                  </a:lnTo>
                  <a:cubicBezTo>
                    <a:pt x="848265" y="0"/>
                    <a:pt x="876502" y="11696"/>
                    <a:pt x="897322" y="32515"/>
                  </a:cubicBezTo>
                  <a:cubicBezTo>
                    <a:pt x="918141" y="53335"/>
                    <a:pt x="929837" y="81572"/>
                    <a:pt x="929837" y="111015"/>
                  </a:cubicBezTo>
                  <a:lnTo>
                    <a:pt x="929837" y="1009583"/>
                  </a:lnTo>
                  <a:cubicBezTo>
                    <a:pt x="929837" y="1070895"/>
                    <a:pt x="880134" y="1120597"/>
                    <a:pt x="818822" y="1120597"/>
                  </a:cubicBezTo>
                  <a:lnTo>
                    <a:pt x="111015" y="1120597"/>
                  </a:lnTo>
                  <a:cubicBezTo>
                    <a:pt x="81572" y="1120597"/>
                    <a:pt x="53335" y="1108901"/>
                    <a:pt x="32515" y="1088082"/>
                  </a:cubicBezTo>
                  <a:cubicBezTo>
                    <a:pt x="11696" y="1067263"/>
                    <a:pt x="0" y="1039026"/>
                    <a:pt x="0" y="1009583"/>
                  </a:cubicBezTo>
                  <a:lnTo>
                    <a:pt x="0" y="111015"/>
                  </a:lnTo>
                  <a:cubicBezTo>
                    <a:pt x="0" y="81572"/>
                    <a:pt x="11696" y="53335"/>
                    <a:pt x="32515" y="32515"/>
                  </a:cubicBezTo>
                  <a:cubicBezTo>
                    <a:pt x="53335" y="11696"/>
                    <a:pt x="81572" y="0"/>
                    <a:pt x="111015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929837" cy="1187273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4719"/>
                </a:lnSpc>
              </a:pPr>
              <a:endParaRPr/>
            </a:p>
            <a:p>
              <a:pPr algn="l">
                <a:lnSpc>
                  <a:spcPts val="4553"/>
                </a:lnSpc>
              </a:pPr>
              <a:endParaRPr/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Ajout de métriques visibles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Optimisation de l’adaptation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Tests à grande échelle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Stockage et visualisation finales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19141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53262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8565851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98077" y="4588490"/>
            <a:ext cx="1980312" cy="3134285"/>
            <a:chOff x="0" y="0"/>
            <a:chExt cx="521564" cy="8254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564" cy="825491"/>
            </a:xfrm>
            <a:custGeom>
              <a:avLst/>
              <a:gdLst/>
              <a:ahLst/>
              <a:cxnLst/>
              <a:rect l="l" t="t" r="r" b="b"/>
              <a:pathLst>
                <a:path w="521564" h="825491">
                  <a:moveTo>
                    <a:pt x="521564" y="412745"/>
                  </a:moveTo>
                  <a:lnTo>
                    <a:pt x="115164" y="0"/>
                  </a:lnTo>
                  <a:lnTo>
                    <a:pt x="115164" y="203200"/>
                  </a:lnTo>
                  <a:lnTo>
                    <a:pt x="0" y="203200"/>
                  </a:lnTo>
                  <a:lnTo>
                    <a:pt x="0" y="622291"/>
                  </a:lnTo>
                  <a:lnTo>
                    <a:pt x="115164" y="622291"/>
                  </a:lnTo>
                  <a:lnTo>
                    <a:pt x="115164" y="825491"/>
                  </a:lnTo>
                  <a:lnTo>
                    <a:pt x="521564" y="412745"/>
                  </a:ln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65100"/>
              <a:ext cx="419964" cy="457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44199" y="3269557"/>
            <a:ext cx="4524899" cy="1318932"/>
            <a:chOff x="0" y="0"/>
            <a:chExt cx="1191743" cy="3473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11098" y="2877391"/>
            <a:ext cx="5314389" cy="6212860"/>
            <a:chOff x="0" y="0"/>
            <a:chExt cx="7085852" cy="8283814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085852" cy="8283814"/>
              <a:chOff x="0" y="0"/>
              <a:chExt cx="949981" cy="111058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49981" cy="1110589"/>
              </a:xfrm>
              <a:custGeom>
                <a:avLst/>
                <a:gdLst/>
                <a:ahLst/>
                <a:cxnLst/>
                <a:rect l="l" t="t" r="r" b="b"/>
                <a:pathLst>
                  <a:path w="949981" h="1110589">
                    <a:moveTo>
                      <a:pt x="108661" y="0"/>
                    </a:moveTo>
                    <a:lnTo>
                      <a:pt x="841321" y="0"/>
                    </a:lnTo>
                    <a:cubicBezTo>
                      <a:pt x="870139" y="0"/>
                      <a:pt x="897778" y="11448"/>
                      <a:pt x="918155" y="31826"/>
                    </a:cubicBezTo>
                    <a:cubicBezTo>
                      <a:pt x="938533" y="52204"/>
                      <a:pt x="949981" y="79842"/>
                      <a:pt x="949981" y="108661"/>
                    </a:cubicBezTo>
                    <a:lnTo>
                      <a:pt x="949981" y="1001928"/>
                    </a:lnTo>
                    <a:cubicBezTo>
                      <a:pt x="949981" y="1030747"/>
                      <a:pt x="938533" y="1058385"/>
                      <a:pt x="918155" y="1078763"/>
                    </a:cubicBezTo>
                    <a:cubicBezTo>
                      <a:pt x="897778" y="1099141"/>
                      <a:pt x="870139" y="1110589"/>
                      <a:pt x="841321" y="1110589"/>
                    </a:cubicBezTo>
                    <a:lnTo>
                      <a:pt x="108661" y="1110589"/>
                    </a:lnTo>
                    <a:cubicBezTo>
                      <a:pt x="79842" y="1110589"/>
                      <a:pt x="52204" y="1099141"/>
                      <a:pt x="31826" y="1078763"/>
                    </a:cubicBezTo>
                    <a:cubicBezTo>
                      <a:pt x="11448" y="1058385"/>
                      <a:pt x="0" y="1030747"/>
                      <a:pt x="0" y="1001928"/>
                    </a:cubicBezTo>
                    <a:lnTo>
                      <a:pt x="0" y="108661"/>
                    </a:lnTo>
                    <a:cubicBezTo>
                      <a:pt x="0" y="79842"/>
                      <a:pt x="11448" y="52204"/>
                      <a:pt x="31826" y="31826"/>
                    </a:cubicBezTo>
                    <a:cubicBezTo>
                      <a:pt x="52204" y="11448"/>
                      <a:pt x="79842" y="0"/>
                      <a:pt x="108661" y="0"/>
                    </a:cubicBezTo>
                    <a:close/>
                  </a:path>
                </a:pathLst>
              </a:custGeom>
              <a:solidFill>
                <a:srgbClr val="A0A0A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949981" cy="1158214"/>
              </a:xfrm>
              <a:prstGeom prst="rect">
                <a:avLst/>
              </a:prstGeom>
            </p:spPr>
            <p:txBody>
              <a:bodyPr lIns="44584" tIns="44584" rIns="44584" bIns="44584" rtlCol="0" anchor="ctr"/>
              <a:lstStyle/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Pipeline fonctionnel côté ingestion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Bases techniques solides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Suite claire pour le traitement et visualisation</a:t>
                </a:r>
              </a:p>
              <a:p>
                <a:pPr algn="l">
                  <a:lnSpc>
                    <a:spcPts val="4060"/>
                  </a:lnSpc>
                </a:pPr>
                <a:endPara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3220" y="512815"/>
              <a:ext cx="6419411" cy="1841630"/>
              <a:chOff x="0" y="0"/>
              <a:chExt cx="1268032" cy="36377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68032" cy="363779"/>
              </a:xfrm>
              <a:custGeom>
                <a:avLst/>
                <a:gdLst/>
                <a:ahLst/>
                <a:cxnLst/>
                <a:rect l="l" t="t" r="r" b="b"/>
                <a:pathLst>
                  <a:path w="1268032" h="363779">
                    <a:moveTo>
                      <a:pt x="1064832" y="0"/>
                    </a:moveTo>
                    <a:cubicBezTo>
                      <a:pt x="1177056" y="0"/>
                      <a:pt x="1268032" y="81435"/>
                      <a:pt x="1268032" y="181889"/>
                    </a:cubicBezTo>
                    <a:cubicBezTo>
                      <a:pt x="1268032" y="282344"/>
                      <a:pt x="1177056" y="363779"/>
                      <a:pt x="1064832" y="363779"/>
                    </a:cubicBezTo>
                    <a:lnTo>
                      <a:pt x="203200" y="363779"/>
                    </a:lnTo>
                    <a:cubicBezTo>
                      <a:pt x="90976" y="363779"/>
                      <a:pt x="0" y="282344"/>
                      <a:pt x="0" y="181889"/>
                    </a:cubicBezTo>
                    <a:cubicBezTo>
                      <a:pt x="0" y="8143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7B7B7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1268032" cy="420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79"/>
                  </a:lnSpc>
                </a:pPr>
                <a:r>
                  <a:rPr lang="en-US" sz="3199">
                    <a:solidFill>
                      <a:srgbClr val="000000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→ Conclusion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9674999" y="3061164"/>
            <a:ext cx="4863298" cy="1669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endParaRPr/>
          </a:p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→ Prochaines étapes</a:t>
            </a:r>
          </a:p>
          <a:p>
            <a:pPr algn="ctr">
              <a:lnSpc>
                <a:spcPts val="4450"/>
              </a:lnSpc>
            </a:pPr>
            <a:endParaRPr lang="en-US" sz="3178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8678" y="2518598"/>
            <a:ext cx="4421540" cy="6172200"/>
          </a:xfrm>
          <a:custGeom>
            <a:avLst/>
            <a:gdLst/>
            <a:ahLst/>
            <a:cxnLst/>
            <a:rect l="l" t="t" r="r" b="b"/>
            <a:pathLst>
              <a:path w="4421540" h="6172200">
                <a:moveTo>
                  <a:pt x="0" y="0"/>
                </a:moveTo>
                <a:lnTo>
                  <a:pt x="4421540" y="0"/>
                </a:lnTo>
                <a:lnTo>
                  <a:pt x="442154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982" y="176982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7641" y="2877313"/>
            <a:ext cx="11452914" cy="558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7"/>
              </a:lnSpc>
            </a:pPr>
            <a:r>
              <a:rPr lang="en-US" sz="14417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MERCI POUR VOTRE ATTENTION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3146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285</Words>
  <Application>Microsoft Office PowerPoint</Application>
  <PresentationFormat>Custom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Etna Sans Serif</vt:lpstr>
      <vt:lpstr>Celandine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Roadmap Illustrative Presentation</dc:title>
  <dc:creator>ASUS Vivobook</dc:creator>
  <cp:lastModifiedBy>boudallaasamah@gmail.com</cp:lastModifiedBy>
  <cp:revision>3</cp:revision>
  <dcterms:created xsi:type="dcterms:W3CDTF">2006-08-16T00:00:00Z</dcterms:created>
  <dcterms:modified xsi:type="dcterms:W3CDTF">2026-02-07T10:07:48Z</dcterms:modified>
  <dc:identifier>DAG79pKXe9Q</dc:identifier>
</cp:coreProperties>
</file>