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elandine" panose="020B0604020202020204" charset="0"/>
      <p:regular r:id="rId14"/>
    </p:embeddedFont>
    <p:embeddedFont>
      <p:font typeface="Etna Sans Serif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1.svg"/><Relationship Id="rId5" Type="http://schemas.openxmlformats.org/officeDocument/2006/relationships/image" Target="../media/image6.sv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7.png"/><Relationship Id="rId5" Type="http://schemas.openxmlformats.org/officeDocument/2006/relationships/image" Target="../media/image4.sv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svg"/><Relationship Id="rId7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44236" y="-529720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148277" y="2708317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32119" y="5919754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22231" y="3760669"/>
            <a:ext cx="12932805" cy="274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72"/>
              </a:lnSpc>
            </a:pPr>
            <a:r>
              <a:rPr lang="en-US" sz="7072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Smart Data Pipeline </a:t>
            </a:r>
            <a:r>
              <a:rPr lang="en-US" sz="7072">
                <a:solidFill>
                  <a:srgbClr val="3A7BFC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Auto</a:t>
            </a:r>
            <a:r>
              <a:rPr lang="en-US" sz="7072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-Adaptatif pour la Gestion Intelligente des Flux de Données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56203" y="1716243"/>
            <a:ext cx="1984148" cy="198414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52468" y="1912507"/>
            <a:ext cx="1591619" cy="159161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740045" y="4838969"/>
            <a:ext cx="1984148" cy="198414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529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936309" y="5035233"/>
            <a:ext cx="1591619" cy="159161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248024" y="5281437"/>
            <a:ext cx="1011276" cy="1099213"/>
          </a:xfrm>
          <a:custGeom>
            <a:avLst/>
            <a:gdLst/>
            <a:ahLst/>
            <a:cxnLst/>
            <a:rect l="l" t="t" r="r" b="b"/>
            <a:pathLst>
              <a:path w="1011276" h="1099213">
                <a:moveTo>
                  <a:pt x="0" y="0"/>
                </a:moveTo>
                <a:lnTo>
                  <a:pt x="1011276" y="0"/>
                </a:lnTo>
                <a:lnTo>
                  <a:pt x="1011276" y="1099213"/>
                </a:lnTo>
                <a:lnTo>
                  <a:pt x="0" y="1099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548202" y="2071575"/>
            <a:ext cx="1200151" cy="1140143"/>
          </a:xfrm>
          <a:custGeom>
            <a:avLst/>
            <a:gdLst/>
            <a:ahLst/>
            <a:cxnLst/>
            <a:rect l="l" t="t" r="r" b="b"/>
            <a:pathLst>
              <a:path w="1200151" h="1140143">
                <a:moveTo>
                  <a:pt x="0" y="0"/>
                </a:moveTo>
                <a:lnTo>
                  <a:pt x="1200150" y="0"/>
                </a:lnTo>
                <a:lnTo>
                  <a:pt x="1200150" y="1140143"/>
                </a:lnTo>
                <a:lnTo>
                  <a:pt x="0" y="11401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831325" y="355332"/>
            <a:ext cx="7101696" cy="1716243"/>
          </a:xfrm>
          <a:custGeom>
            <a:avLst/>
            <a:gdLst/>
            <a:ahLst/>
            <a:cxnLst/>
            <a:rect l="l" t="t" r="r" b="b"/>
            <a:pathLst>
              <a:path w="7101696" h="1716243">
                <a:moveTo>
                  <a:pt x="0" y="0"/>
                </a:moveTo>
                <a:lnTo>
                  <a:pt x="7101695" y="0"/>
                </a:lnTo>
                <a:lnTo>
                  <a:pt x="7101695" y="1716243"/>
                </a:lnTo>
                <a:lnTo>
                  <a:pt x="0" y="17162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4455036" y="8544660"/>
            <a:ext cx="4237600" cy="932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Encadré par :</a:t>
            </a:r>
          </a:p>
          <a:p>
            <a:pPr algn="l">
              <a:lnSpc>
                <a:spcPts val="3783"/>
              </a:lnSpc>
            </a:pPr>
            <a:r>
              <a:rPr lang="en-US" sz="2702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Pr. Anas BERKA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31325" y="7746465"/>
            <a:ext cx="4428740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Présenté par :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BOUDALLAA SAMAH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EL BAHLOUL CHAYMAE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EL BASRI KHADIJA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10069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7259300" y="8624123"/>
            <a:ext cx="146764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80606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88062">
            <a:off x="-357485" y="-90215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88062">
            <a:off x="3705162" y="2004009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88062">
            <a:off x="7597022" y="3805119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88062">
            <a:off x="11830457" y="6192456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788062">
            <a:off x="16261477" y="9110457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911911" y="2045574"/>
            <a:ext cx="1664944" cy="166494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076601" y="2210264"/>
            <a:ext cx="1335564" cy="133556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240846" y="2399686"/>
            <a:ext cx="1007074" cy="956720"/>
          </a:xfrm>
          <a:custGeom>
            <a:avLst/>
            <a:gdLst/>
            <a:ahLst/>
            <a:cxnLst/>
            <a:rect l="l" t="t" r="r" b="b"/>
            <a:pathLst>
              <a:path w="1007074" h="956720">
                <a:moveTo>
                  <a:pt x="0" y="0"/>
                </a:moveTo>
                <a:lnTo>
                  <a:pt x="1007074" y="0"/>
                </a:lnTo>
                <a:lnTo>
                  <a:pt x="1007074" y="956720"/>
                </a:lnTo>
                <a:lnTo>
                  <a:pt x="0" y="956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7187361" y="4315463"/>
            <a:ext cx="1664944" cy="166494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52051" y="4480153"/>
            <a:ext cx="1335564" cy="133556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143608" y="6180257"/>
            <a:ext cx="1664944" cy="166494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08297" y="6344947"/>
            <a:ext cx="1335564" cy="133556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7514195" y="4598328"/>
            <a:ext cx="1011276" cy="1099213"/>
          </a:xfrm>
          <a:custGeom>
            <a:avLst/>
            <a:gdLst/>
            <a:ahLst/>
            <a:cxnLst/>
            <a:rect l="l" t="t" r="r" b="b"/>
            <a:pathLst>
              <a:path w="1011276" h="1099213">
                <a:moveTo>
                  <a:pt x="0" y="0"/>
                </a:moveTo>
                <a:lnTo>
                  <a:pt x="1011276" y="0"/>
                </a:lnTo>
                <a:lnTo>
                  <a:pt x="1011276" y="1099213"/>
                </a:lnTo>
                <a:lnTo>
                  <a:pt x="0" y="10992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362007" y="6545778"/>
            <a:ext cx="1228146" cy="933902"/>
          </a:xfrm>
          <a:custGeom>
            <a:avLst/>
            <a:gdLst/>
            <a:ahLst/>
            <a:cxnLst/>
            <a:rect l="l" t="t" r="r" b="b"/>
            <a:pathLst>
              <a:path w="1228146" h="933902">
                <a:moveTo>
                  <a:pt x="0" y="0"/>
                </a:moveTo>
                <a:lnTo>
                  <a:pt x="1228145" y="0"/>
                </a:lnTo>
                <a:lnTo>
                  <a:pt x="1228145" y="933902"/>
                </a:lnTo>
                <a:lnTo>
                  <a:pt x="0" y="9339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979322" y="214043"/>
            <a:ext cx="7315200" cy="3044952"/>
          </a:xfrm>
          <a:custGeom>
            <a:avLst/>
            <a:gdLst/>
            <a:ahLst/>
            <a:cxnLst/>
            <a:rect l="l" t="t" r="r" b="b"/>
            <a:pathLst>
              <a:path w="7315200" h="3044952">
                <a:moveTo>
                  <a:pt x="0" y="0"/>
                </a:moveTo>
                <a:lnTo>
                  <a:pt x="7315200" y="0"/>
                </a:lnTo>
                <a:lnTo>
                  <a:pt x="7315200" y="3044952"/>
                </a:lnTo>
                <a:lnTo>
                  <a:pt x="0" y="30449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3638517" y="1043215"/>
            <a:ext cx="3085009" cy="113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Objectifs du projet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23526" y="2575138"/>
            <a:ext cx="3085009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Architecture globale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04834" y="4416148"/>
            <a:ext cx="2967404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Choix technologiques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-457290" y="2756894"/>
            <a:ext cx="3752791" cy="1716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Contexte et problématique</a:t>
            </a:r>
          </a:p>
          <a:p>
            <a:pPr algn="ctr">
              <a:lnSpc>
                <a:spcPts val="4620"/>
              </a:lnSpc>
            </a:pPr>
            <a:endParaRPr lang="en-US" sz="330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894314" y="6709821"/>
            <a:ext cx="3085009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État d’avancement</a:t>
            </a:r>
          </a:p>
        </p:txBody>
      </p:sp>
      <p:sp>
        <p:nvSpPr>
          <p:cNvPr id="34" name="Freeform 34"/>
          <p:cNvSpPr/>
          <p:nvPr/>
        </p:nvSpPr>
        <p:spPr>
          <a:xfrm>
            <a:off x="53004" y="0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-124441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7259300" y="8624123"/>
            <a:ext cx="14676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120639" y="7084246"/>
            <a:ext cx="3085009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Conclusion et perspectives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362007" y="4541178"/>
            <a:ext cx="3085009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Démo conceptuelle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551914" y="8480058"/>
            <a:ext cx="3085009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Difficultés &amp; Solutions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2353" y="3595643"/>
            <a:ext cx="3706795" cy="4562209"/>
            <a:chOff x="0" y="0"/>
            <a:chExt cx="6604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3F9C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445601" y="3595643"/>
            <a:ext cx="3706795" cy="4562209"/>
            <a:chOff x="0" y="0"/>
            <a:chExt cx="6604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28848" y="3595643"/>
            <a:ext cx="3706795" cy="4562209"/>
            <a:chOff x="0" y="0"/>
            <a:chExt cx="6604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812096" y="3595643"/>
            <a:ext cx="3706795" cy="4562209"/>
            <a:chOff x="0" y="0"/>
            <a:chExt cx="6604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283278" y="2763171"/>
            <a:ext cx="1664944" cy="166494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447968" y="2927861"/>
            <a:ext cx="1335564" cy="133556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06554" y="2763171"/>
            <a:ext cx="1664944" cy="166494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09CC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71244" y="2927861"/>
            <a:ext cx="1335564" cy="133556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645812" y="2763171"/>
            <a:ext cx="1664944" cy="166494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5295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810502" y="2927861"/>
            <a:ext cx="1335564" cy="1335564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825099" y="2763171"/>
            <a:ext cx="1664944" cy="166494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989788" y="2927861"/>
            <a:ext cx="1335564" cy="133556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2612213" y="3117283"/>
            <a:ext cx="1007074" cy="956720"/>
          </a:xfrm>
          <a:custGeom>
            <a:avLst/>
            <a:gdLst/>
            <a:ahLst/>
            <a:cxnLst/>
            <a:rect l="l" t="t" r="r" b="b"/>
            <a:pathLst>
              <a:path w="1007074" h="956720">
                <a:moveTo>
                  <a:pt x="0" y="0"/>
                </a:moveTo>
                <a:lnTo>
                  <a:pt x="1007074" y="0"/>
                </a:lnTo>
                <a:lnTo>
                  <a:pt x="1007074" y="956720"/>
                </a:lnTo>
                <a:lnTo>
                  <a:pt x="0" y="956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6666162" y="3046036"/>
            <a:ext cx="945729" cy="1027967"/>
          </a:xfrm>
          <a:custGeom>
            <a:avLst/>
            <a:gdLst/>
            <a:ahLst/>
            <a:cxnLst/>
            <a:rect l="l" t="t" r="r" b="b"/>
            <a:pathLst>
              <a:path w="945729" h="1027967">
                <a:moveTo>
                  <a:pt x="0" y="0"/>
                </a:moveTo>
                <a:lnTo>
                  <a:pt x="945729" y="0"/>
                </a:lnTo>
                <a:lnTo>
                  <a:pt x="945729" y="1027967"/>
                </a:lnTo>
                <a:lnTo>
                  <a:pt x="0" y="1027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0945851" y="3155148"/>
            <a:ext cx="1064867" cy="809743"/>
          </a:xfrm>
          <a:custGeom>
            <a:avLst/>
            <a:gdLst/>
            <a:ahLst/>
            <a:cxnLst/>
            <a:rect l="l" t="t" r="r" b="b"/>
            <a:pathLst>
              <a:path w="1064867" h="809743">
                <a:moveTo>
                  <a:pt x="0" y="0"/>
                </a:moveTo>
                <a:lnTo>
                  <a:pt x="1064867" y="0"/>
                </a:lnTo>
                <a:lnTo>
                  <a:pt x="1064867" y="809743"/>
                </a:lnTo>
                <a:lnTo>
                  <a:pt x="0" y="809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5249258" y="3179407"/>
            <a:ext cx="832472" cy="832472"/>
          </a:xfrm>
          <a:custGeom>
            <a:avLst/>
            <a:gdLst/>
            <a:ahLst/>
            <a:cxnLst/>
            <a:rect l="l" t="t" r="r" b="b"/>
            <a:pathLst>
              <a:path w="832472" h="832472">
                <a:moveTo>
                  <a:pt x="0" y="0"/>
                </a:moveTo>
                <a:lnTo>
                  <a:pt x="832472" y="0"/>
                </a:lnTo>
                <a:lnTo>
                  <a:pt x="832472" y="832472"/>
                </a:lnTo>
                <a:lnTo>
                  <a:pt x="0" y="8324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3208400" y="7987758"/>
            <a:ext cx="1703363" cy="1735911"/>
          </a:xfrm>
          <a:custGeom>
            <a:avLst/>
            <a:gdLst/>
            <a:ahLst/>
            <a:cxnLst/>
            <a:rect l="l" t="t" r="r" b="b"/>
            <a:pathLst>
              <a:path w="1703363" h="1735911">
                <a:moveTo>
                  <a:pt x="0" y="0"/>
                </a:moveTo>
                <a:lnTo>
                  <a:pt x="1703363" y="0"/>
                </a:lnTo>
                <a:lnTo>
                  <a:pt x="1703363" y="1735911"/>
                </a:lnTo>
                <a:lnTo>
                  <a:pt x="0" y="17359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783532" y="941818"/>
            <a:ext cx="10515790" cy="168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CONTEXTE &amp; PROBLÉMATIQUE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32011" y="5082908"/>
            <a:ext cx="2967480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Explosion des données (IoT, applications, log)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677064" y="5301983"/>
            <a:ext cx="308500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Données continues et hétérogènes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994097" y="5366118"/>
            <a:ext cx="308500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Pipelines classiques rigides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115066" y="5301983"/>
            <a:ext cx="308500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7F9F9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Intervention humaine élevée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881467" y="8798563"/>
            <a:ext cx="9850683" cy="102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289D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Problématique :  </a:t>
            </a:r>
            <a:r>
              <a:rPr lang="en-US" sz="29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Comment rendre un pipeline de données intelligent et auto-adaptatif ?</a:t>
            </a:r>
          </a:p>
        </p:txBody>
      </p:sp>
      <p:sp>
        <p:nvSpPr>
          <p:cNvPr id="49" name="Freeform 49"/>
          <p:cNvSpPr/>
          <p:nvPr/>
        </p:nvSpPr>
        <p:spPr>
          <a:xfrm>
            <a:off x="53004" y="0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0" y="9676044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7259300" y="8624123"/>
            <a:ext cx="14676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74217" y="1358444"/>
            <a:ext cx="7815781" cy="869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OBJECTIFS DU PFE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74593" y="4683945"/>
            <a:ext cx="3724048" cy="4109294"/>
            <a:chOff x="0" y="0"/>
            <a:chExt cx="7366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lIns="44015" tIns="44015" rIns="44015" bIns="44015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129391" y="4683945"/>
            <a:ext cx="3724048" cy="4109294"/>
            <a:chOff x="0" y="0"/>
            <a:chExt cx="7366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3F9CE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lIns="44015" tIns="44015" rIns="44015" bIns="44015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77252" y="4683945"/>
            <a:ext cx="3724048" cy="4109294"/>
            <a:chOff x="0" y="0"/>
            <a:chExt cx="7366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80828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lIns="44015" tIns="44015" rIns="44015" bIns="44015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397733" y="4683945"/>
            <a:ext cx="3724048" cy="4109294"/>
            <a:chOff x="0" y="0"/>
            <a:chExt cx="7366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lIns="44015" tIns="44015" rIns="44015" bIns="44015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52878" y="6284567"/>
            <a:ext cx="2967480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Gérer les flux en temps réel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45442" y="6191295"/>
            <a:ext cx="3085009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S’adapter aux variations de charge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83081" y="6191295"/>
            <a:ext cx="3085009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Réduire l’intervention humaine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17253" y="6191295"/>
            <a:ext cx="3085009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Améliorer la performance et la fiabilité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004145" y="8149744"/>
            <a:ext cx="1664944" cy="166494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168391" y="8314434"/>
            <a:ext cx="1335564" cy="1335564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2332636" y="8503856"/>
            <a:ext cx="1007074" cy="956720"/>
          </a:xfrm>
          <a:custGeom>
            <a:avLst/>
            <a:gdLst/>
            <a:ahLst/>
            <a:cxnLst/>
            <a:rect l="l" t="t" r="r" b="b"/>
            <a:pathLst>
              <a:path w="1007074" h="956720">
                <a:moveTo>
                  <a:pt x="0" y="0"/>
                </a:moveTo>
                <a:lnTo>
                  <a:pt x="1007074" y="0"/>
                </a:lnTo>
                <a:lnTo>
                  <a:pt x="1007074" y="956720"/>
                </a:lnTo>
                <a:lnTo>
                  <a:pt x="0" y="956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6181693" y="8149744"/>
            <a:ext cx="1664944" cy="166494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09CC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46383" y="8314434"/>
            <a:ext cx="1335564" cy="1335564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444789" y="7916277"/>
            <a:ext cx="1664944" cy="166494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50E2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609479" y="8080967"/>
            <a:ext cx="1335564" cy="133556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6485777" y="8403536"/>
            <a:ext cx="1011276" cy="1099213"/>
          </a:xfrm>
          <a:custGeom>
            <a:avLst/>
            <a:gdLst/>
            <a:ahLst/>
            <a:cxnLst/>
            <a:rect l="l" t="t" r="r" b="b"/>
            <a:pathLst>
              <a:path w="1011276" h="1099213">
                <a:moveTo>
                  <a:pt x="0" y="0"/>
                </a:moveTo>
                <a:lnTo>
                  <a:pt x="1011276" y="0"/>
                </a:lnTo>
                <a:lnTo>
                  <a:pt x="1011276" y="1099213"/>
                </a:lnTo>
                <a:lnTo>
                  <a:pt x="0" y="1099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>
            <a:off x="14427285" y="7985054"/>
            <a:ext cx="1664944" cy="1664944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591975" y="8202705"/>
            <a:ext cx="1335564" cy="1335564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14870901" y="8425828"/>
            <a:ext cx="832472" cy="832472"/>
          </a:xfrm>
          <a:custGeom>
            <a:avLst/>
            <a:gdLst/>
            <a:ahLst/>
            <a:cxnLst/>
            <a:rect l="l" t="t" r="r" b="b"/>
            <a:pathLst>
              <a:path w="832472" h="832472">
                <a:moveTo>
                  <a:pt x="0" y="0"/>
                </a:moveTo>
                <a:lnTo>
                  <a:pt x="832472" y="0"/>
                </a:lnTo>
                <a:lnTo>
                  <a:pt x="832472" y="832472"/>
                </a:lnTo>
                <a:lnTo>
                  <a:pt x="0" y="8324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0663189" y="8403536"/>
            <a:ext cx="1228146" cy="933902"/>
          </a:xfrm>
          <a:custGeom>
            <a:avLst/>
            <a:gdLst/>
            <a:ahLst/>
            <a:cxnLst/>
            <a:rect l="l" t="t" r="r" b="b"/>
            <a:pathLst>
              <a:path w="1228146" h="933902">
                <a:moveTo>
                  <a:pt x="0" y="0"/>
                </a:moveTo>
                <a:lnTo>
                  <a:pt x="1228145" y="0"/>
                </a:lnTo>
                <a:lnTo>
                  <a:pt x="1228145" y="933902"/>
                </a:lnTo>
                <a:lnTo>
                  <a:pt x="0" y="9339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2332636" y="2851698"/>
            <a:ext cx="15236318" cy="122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1">
                <a:solidFill>
                  <a:srgbClr val="0289D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Objectif général :</a:t>
            </a:r>
          </a:p>
          <a:p>
            <a:pPr algn="ctr">
              <a:lnSpc>
                <a:spcPts val="4179"/>
              </a:lnSpc>
            </a:pPr>
            <a:r>
              <a:rPr lang="en-US" sz="2985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                           Concevoir un pipeline de données intelligent et auto-adaptatif</a:t>
            </a:r>
          </a:p>
        </p:txBody>
      </p:sp>
      <p:sp>
        <p:nvSpPr>
          <p:cNvPr id="48" name="Freeform 48"/>
          <p:cNvSpPr/>
          <p:nvPr/>
        </p:nvSpPr>
        <p:spPr>
          <a:xfrm>
            <a:off x="121537" y="179256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7"/>
                </a:lnTo>
                <a:lnTo>
                  <a:pt x="0" y="10686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-528601" y="960237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7461765" y="8624123"/>
            <a:ext cx="116465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2929" y="1431998"/>
            <a:ext cx="16808836" cy="869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Choix </a:t>
            </a:r>
            <a:r>
              <a:rPr lang="en-US" sz="6500" dirty="0" err="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technologiques</a:t>
            </a:r>
            <a:endParaRPr lang="en-US" sz="6500" dirty="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53004" y="0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88039" y="2557084"/>
            <a:ext cx="15511922" cy="6647429"/>
          </a:xfrm>
          <a:custGeom>
            <a:avLst/>
            <a:gdLst/>
            <a:ahLst/>
            <a:cxnLst/>
            <a:rect l="l" t="t" r="r" b="b"/>
            <a:pathLst>
              <a:path w="15511922" h="6647429">
                <a:moveTo>
                  <a:pt x="0" y="0"/>
                </a:moveTo>
                <a:lnTo>
                  <a:pt x="15511922" y="0"/>
                </a:lnTo>
                <a:lnTo>
                  <a:pt x="15511922" y="6647429"/>
                </a:lnTo>
                <a:lnTo>
                  <a:pt x="0" y="66474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9981" b="-2548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493440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461765" y="8624123"/>
            <a:ext cx="116465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10502" y="2927861"/>
            <a:ext cx="1335564" cy="186623"/>
            <a:chOff x="0" y="0"/>
            <a:chExt cx="812800" cy="1135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13575"/>
            </a:xfrm>
            <a:custGeom>
              <a:avLst/>
              <a:gdLst/>
              <a:ahLst/>
              <a:cxnLst/>
              <a:rect l="l" t="t" r="r" b="b"/>
              <a:pathLst>
                <a:path w="812800" h="113575">
                  <a:moveTo>
                    <a:pt x="406400" y="0"/>
                  </a:moveTo>
                  <a:cubicBezTo>
                    <a:pt x="181951" y="0"/>
                    <a:pt x="0" y="25425"/>
                    <a:pt x="0" y="56788"/>
                  </a:cubicBezTo>
                  <a:cubicBezTo>
                    <a:pt x="0" y="88150"/>
                    <a:pt x="181951" y="113575"/>
                    <a:pt x="406400" y="113575"/>
                  </a:cubicBezTo>
                  <a:cubicBezTo>
                    <a:pt x="630849" y="113575"/>
                    <a:pt x="812800" y="88150"/>
                    <a:pt x="812800" y="56788"/>
                  </a:cubicBezTo>
                  <a:cubicBezTo>
                    <a:pt x="812800" y="2542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27452"/>
              <a:ext cx="660400" cy="130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762958" y="1940427"/>
            <a:ext cx="9818668" cy="309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9"/>
              </a:lnSpc>
            </a:pPr>
            <a:r>
              <a:rPr lang="en-US" sz="606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Architecture Globale du Smart Data Pipeline</a:t>
            </a:r>
          </a:p>
          <a:p>
            <a:pPr algn="ctr">
              <a:lnSpc>
                <a:spcPts val="6069"/>
              </a:lnSpc>
            </a:pPr>
            <a:endParaRPr lang="en-US" sz="6069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  <a:p>
            <a:pPr algn="ctr">
              <a:lnSpc>
                <a:spcPts val="6069"/>
              </a:lnSpc>
            </a:pPr>
            <a:endParaRPr lang="en-US" sz="6069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566489" y="252393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53628" y="3432897"/>
            <a:ext cx="15871261" cy="5825403"/>
          </a:xfrm>
          <a:custGeom>
            <a:avLst/>
            <a:gdLst/>
            <a:ahLst/>
            <a:cxnLst/>
            <a:rect l="l" t="t" r="r" b="b"/>
            <a:pathLst>
              <a:path w="15871261" h="5825403">
                <a:moveTo>
                  <a:pt x="0" y="0"/>
                </a:moveTo>
                <a:lnTo>
                  <a:pt x="15871262" y="0"/>
                </a:lnTo>
                <a:lnTo>
                  <a:pt x="15871262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0759" b="-4075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8624123"/>
            <a:ext cx="14676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69645" y="3909279"/>
            <a:ext cx="3169004" cy="3423213"/>
            <a:chOff x="0" y="0"/>
            <a:chExt cx="1688323" cy="1823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8323" cy="1823756"/>
            </a:xfrm>
            <a:custGeom>
              <a:avLst/>
              <a:gdLst/>
              <a:ahLst/>
              <a:cxnLst/>
              <a:rect l="l" t="t" r="r" b="b"/>
              <a:pathLst>
                <a:path w="1688323" h="1823756">
                  <a:moveTo>
                    <a:pt x="0" y="0"/>
                  </a:moveTo>
                  <a:lnTo>
                    <a:pt x="1485123" y="0"/>
                  </a:lnTo>
                  <a:lnTo>
                    <a:pt x="1688323" y="911878"/>
                  </a:lnTo>
                  <a:lnTo>
                    <a:pt x="1485123" y="1823756"/>
                  </a:lnTo>
                  <a:lnTo>
                    <a:pt x="0" y="1823756"/>
                  </a:lnTo>
                  <a:lnTo>
                    <a:pt x="203200" y="91187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6F6D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177800" y="-38100"/>
              <a:ext cx="1434323" cy="1861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76449" y="3865136"/>
            <a:ext cx="2967551" cy="3467357"/>
            <a:chOff x="0" y="0"/>
            <a:chExt cx="2014120" cy="23533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14120" cy="2353346"/>
            </a:xfrm>
            <a:custGeom>
              <a:avLst/>
              <a:gdLst/>
              <a:ahLst/>
              <a:cxnLst/>
              <a:rect l="l" t="t" r="r" b="b"/>
              <a:pathLst>
                <a:path w="2014120" h="2353346">
                  <a:moveTo>
                    <a:pt x="0" y="0"/>
                  </a:moveTo>
                  <a:lnTo>
                    <a:pt x="1810920" y="0"/>
                  </a:lnTo>
                  <a:lnTo>
                    <a:pt x="2014120" y="1176673"/>
                  </a:lnTo>
                  <a:lnTo>
                    <a:pt x="1810920" y="2353346"/>
                  </a:lnTo>
                  <a:lnTo>
                    <a:pt x="0" y="2353346"/>
                  </a:lnTo>
                  <a:lnTo>
                    <a:pt x="203200" y="11766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6F6DFF">
                    <a:alpha val="100000"/>
                  </a:srgbClr>
                </a:gs>
                <a:gs pos="100000">
                  <a:srgbClr val="120FB4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177800" y="-38100"/>
              <a:ext cx="1760120" cy="2391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38512" y="3844272"/>
            <a:ext cx="3079840" cy="3488220"/>
            <a:chOff x="0" y="0"/>
            <a:chExt cx="1989315" cy="22530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89315" cy="2253094"/>
            </a:xfrm>
            <a:custGeom>
              <a:avLst/>
              <a:gdLst/>
              <a:ahLst/>
              <a:cxnLst/>
              <a:rect l="l" t="t" r="r" b="b"/>
              <a:pathLst>
                <a:path w="1989315" h="2253094">
                  <a:moveTo>
                    <a:pt x="0" y="0"/>
                  </a:moveTo>
                  <a:lnTo>
                    <a:pt x="1786115" y="0"/>
                  </a:lnTo>
                  <a:lnTo>
                    <a:pt x="1989315" y="1126547"/>
                  </a:lnTo>
                  <a:lnTo>
                    <a:pt x="1786115" y="2253094"/>
                  </a:lnTo>
                  <a:lnTo>
                    <a:pt x="0" y="2253094"/>
                  </a:lnTo>
                  <a:lnTo>
                    <a:pt x="203200" y="11265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6F6DFF">
                    <a:alpha val="100000"/>
                  </a:srgbClr>
                </a:gs>
                <a:gs pos="100000">
                  <a:srgbClr val="120FB4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177800" y="-38100"/>
              <a:ext cx="1735315" cy="229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32702" y="3803672"/>
            <a:ext cx="2929082" cy="3507957"/>
            <a:chOff x="0" y="0"/>
            <a:chExt cx="1988010" cy="23809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88010" cy="2380901"/>
            </a:xfrm>
            <a:custGeom>
              <a:avLst/>
              <a:gdLst/>
              <a:ahLst/>
              <a:cxnLst/>
              <a:rect l="l" t="t" r="r" b="b"/>
              <a:pathLst>
                <a:path w="1988010" h="2380901">
                  <a:moveTo>
                    <a:pt x="0" y="0"/>
                  </a:moveTo>
                  <a:lnTo>
                    <a:pt x="1784810" y="0"/>
                  </a:lnTo>
                  <a:lnTo>
                    <a:pt x="1988010" y="1190451"/>
                  </a:lnTo>
                  <a:lnTo>
                    <a:pt x="1784810" y="2380901"/>
                  </a:lnTo>
                  <a:lnTo>
                    <a:pt x="0" y="2380901"/>
                  </a:lnTo>
                  <a:lnTo>
                    <a:pt x="203200" y="1190451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6F6D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177800" y="-38100"/>
              <a:ext cx="1734010" cy="2419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706706" y="1928886"/>
            <a:ext cx="1051579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État </a:t>
            </a:r>
            <a:r>
              <a:rPr lang="en-US" sz="6500" dirty="0" err="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d’avancement</a:t>
            </a:r>
            <a:endParaRPr lang="en-US" sz="6500" dirty="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76982" y="229695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6" y="0"/>
                </a:lnTo>
                <a:lnTo>
                  <a:pt x="4422196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-56252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244737" y="4599354"/>
            <a:ext cx="2218821" cy="1771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3394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Kafka configuré avec KRaft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31825" y="4289735"/>
            <a:ext cx="2413726" cy="2380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5"/>
              </a:lnSpc>
            </a:pPr>
            <a:r>
              <a:rPr lang="en-US" sz="338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Producer / Consumer Python fonctionnels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45213" y="4675079"/>
            <a:ext cx="1866438" cy="1780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5"/>
              </a:lnSpc>
            </a:pPr>
            <a:r>
              <a:rPr lang="en-US" sz="338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Tests validés en local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92582" y="4570252"/>
            <a:ext cx="2631102" cy="1767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45"/>
              </a:lnSpc>
            </a:pPr>
            <a:r>
              <a:rPr lang="en-US" sz="3389" dirty="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Architecture </a:t>
            </a:r>
            <a:r>
              <a:rPr lang="en-US" sz="3389" dirty="0" err="1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testée</a:t>
            </a:r>
            <a:r>
              <a:rPr lang="en-US" sz="3389" dirty="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end-to-end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088720" y="8624123"/>
            <a:ext cx="186706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92080" y="1335445"/>
            <a:ext cx="11125295" cy="836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</a:t>
            </a:r>
            <a:r>
              <a:rPr lang="en-US" sz="6500" b="1" dirty="0" err="1">
                <a:solidFill>
                  <a:srgbClr val="080606"/>
                </a:solidFill>
                <a:latin typeface="Etna Sans Serif" panose="020B0604020202020204" charset="0"/>
                <a:ea typeface="Etna Sans Serif"/>
                <a:cs typeface="Times New Roman" panose="02020603050405020304" pitchFamily="18" charset="0"/>
                <a:sym typeface="Etna Sans Serif"/>
              </a:rPr>
              <a:t>Démonstration</a:t>
            </a:r>
            <a:r>
              <a:rPr lang="en-US" sz="6500" b="1" dirty="0">
                <a:solidFill>
                  <a:srgbClr val="080606"/>
                </a:solidFill>
                <a:latin typeface="Etna Sans Serif" panose="020B0604020202020204" charset="0"/>
                <a:ea typeface="Etna Sans Serif"/>
                <a:cs typeface="Times New Roman" panose="02020603050405020304" pitchFamily="18" charset="0"/>
                <a:sym typeface="Etna Sans Serif"/>
              </a:rPr>
              <a:t> </a:t>
            </a:r>
            <a:r>
              <a:rPr lang="en-US" sz="6500" b="1" dirty="0" err="1">
                <a:solidFill>
                  <a:srgbClr val="080606"/>
                </a:solidFill>
                <a:latin typeface="Etna Sans Serif" panose="020B0604020202020204" charset="0"/>
                <a:ea typeface="Etna Sans Serif"/>
                <a:cs typeface="Times New Roman" panose="02020603050405020304" pitchFamily="18" charset="0"/>
                <a:sym typeface="Etna Sans Serif"/>
              </a:rPr>
              <a:t>conceptuelle</a:t>
            </a:r>
            <a:endParaRPr lang="en-US" sz="6500" b="1" dirty="0">
              <a:solidFill>
                <a:srgbClr val="080606"/>
              </a:solidFill>
              <a:latin typeface="Etna Sans Serif" panose="020B0604020202020204" charset="0"/>
              <a:ea typeface="Etna Sans Serif"/>
              <a:cs typeface="Times New Roman" panose="02020603050405020304" pitchFamily="18" charset="0"/>
              <a:sym typeface="Etna Sans Serif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0" y="224164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7"/>
                </a:lnTo>
                <a:lnTo>
                  <a:pt x="0" y="1068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669698" y="2320120"/>
            <a:ext cx="16770061" cy="7170109"/>
          </a:xfrm>
          <a:custGeom>
            <a:avLst/>
            <a:gdLst/>
            <a:ahLst/>
            <a:cxnLst/>
            <a:rect l="l" t="t" r="r" b="b"/>
            <a:pathLst>
              <a:path w="16770061" h="7170109">
                <a:moveTo>
                  <a:pt x="0" y="0"/>
                </a:moveTo>
                <a:lnTo>
                  <a:pt x="16770062" y="0"/>
                </a:lnTo>
                <a:lnTo>
                  <a:pt x="16770062" y="7170109"/>
                </a:lnTo>
                <a:lnTo>
                  <a:pt x="0" y="7170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6972" r="-282" b="-929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616994" y="9676606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8624123"/>
            <a:ext cx="14676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31223" y="1116250"/>
            <a:ext cx="10515790" cy="165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6400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</a:t>
            </a:r>
            <a:r>
              <a:rPr lang="en-US" sz="6400" dirty="0" err="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Difficultés</a:t>
            </a:r>
            <a:r>
              <a:rPr lang="en-US" sz="6400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</a:t>
            </a:r>
            <a:r>
              <a:rPr lang="en-US" sz="6400" dirty="0" err="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rencontrées</a:t>
            </a:r>
            <a:r>
              <a:rPr lang="en-US" sz="6400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&amp; Solutions </a:t>
            </a:r>
            <a:r>
              <a:rPr lang="en-US" sz="6400" dirty="0" err="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apportées</a:t>
            </a:r>
            <a:endParaRPr lang="en-US" sz="6400" dirty="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90845" y="147813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7"/>
                </a:lnTo>
                <a:lnTo>
                  <a:pt x="0" y="1068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910851" y="3266674"/>
            <a:ext cx="5380991" cy="6089556"/>
            <a:chOff x="0" y="0"/>
            <a:chExt cx="961887" cy="10885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61887" cy="1088548"/>
            </a:xfrm>
            <a:custGeom>
              <a:avLst/>
              <a:gdLst/>
              <a:ahLst/>
              <a:cxnLst/>
              <a:rect l="l" t="t" r="r" b="b"/>
              <a:pathLst>
                <a:path w="961887" h="1088548">
                  <a:moveTo>
                    <a:pt x="107316" y="0"/>
                  </a:moveTo>
                  <a:lnTo>
                    <a:pt x="854571" y="0"/>
                  </a:lnTo>
                  <a:cubicBezTo>
                    <a:pt x="883033" y="0"/>
                    <a:pt x="910329" y="11306"/>
                    <a:pt x="930455" y="31432"/>
                  </a:cubicBezTo>
                  <a:cubicBezTo>
                    <a:pt x="950581" y="51558"/>
                    <a:pt x="961887" y="78854"/>
                    <a:pt x="961887" y="107316"/>
                  </a:cubicBezTo>
                  <a:lnTo>
                    <a:pt x="961887" y="981232"/>
                  </a:lnTo>
                  <a:cubicBezTo>
                    <a:pt x="961887" y="1009694"/>
                    <a:pt x="950581" y="1036990"/>
                    <a:pt x="930455" y="1057115"/>
                  </a:cubicBezTo>
                  <a:cubicBezTo>
                    <a:pt x="910329" y="1077241"/>
                    <a:pt x="883033" y="1088548"/>
                    <a:pt x="854571" y="1088548"/>
                  </a:cubicBezTo>
                  <a:lnTo>
                    <a:pt x="107316" y="1088548"/>
                  </a:lnTo>
                  <a:cubicBezTo>
                    <a:pt x="78854" y="1088548"/>
                    <a:pt x="51558" y="1077241"/>
                    <a:pt x="31432" y="1057115"/>
                  </a:cubicBezTo>
                  <a:cubicBezTo>
                    <a:pt x="11306" y="1036990"/>
                    <a:pt x="0" y="1009694"/>
                    <a:pt x="0" y="981232"/>
                  </a:cubicBezTo>
                  <a:lnTo>
                    <a:pt x="0" y="107316"/>
                  </a:lnTo>
                  <a:cubicBezTo>
                    <a:pt x="0" y="78854"/>
                    <a:pt x="11306" y="51558"/>
                    <a:pt x="31432" y="31432"/>
                  </a:cubicBezTo>
                  <a:cubicBezTo>
                    <a:pt x="51558" y="11306"/>
                    <a:pt x="78854" y="0"/>
                    <a:pt x="107316" y="0"/>
                  </a:cubicBezTo>
                  <a:close/>
                </a:path>
              </a:pathLst>
            </a:custGeom>
            <a:solidFill>
              <a:srgbClr val="A0A0A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961887" cy="1145698"/>
            </a:xfrm>
            <a:prstGeom prst="rect">
              <a:avLst/>
            </a:prstGeom>
          </p:spPr>
          <p:txBody>
            <a:bodyPr lIns="44584" tIns="44584" rIns="44584" bIns="44584" rtlCol="0" anchor="ctr"/>
            <a:lstStyle/>
            <a:p>
              <a:pPr algn="l">
                <a:lnSpc>
                  <a:spcPts val="3574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44680" y="3266673"/>
            <a:ext cx="5243407" cy="6089556"/>
            <a:chOff x="0" y="0"/>
            <a:chExt cx="937293" cy="10885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7293" cy="1088548"/>
            </a:xfrm>
            <a:custGeom>
              <a:avLst/>
              <a:gdLst/>
              <a:ahLst/>
              <a:cxnLst/>
              <a:rect l="l" t="t" r="r" b="b"/>
              <a:pathLst>
                <a:path w="937293" h="1088548">
                  <a:moveTo>
                    <a:pt x="110132" y="0"/>
                  </a:moveTo>
                  <a:lnTo>
                    <a:pt x="827161" y="0"/>
                  </a:lnTo>
                  <a:cubicBezTo>
                    <a:pt x="856370" y="0"/>
                    <a:pt x="884382" y="11603"/>
                    <a:pt x="905036" y="32257"/>
                  </a:cubicBezTo>
                  <a:cubicBezTo>
                    <a:pt x="925690" y="52910"/>
                    <a:pt x="937293" y="80923"/>
                    <a:pt x="937293" y="110132"/>
                  </a:cubicBezTo>
                  <a:lnTo>
                    <a:pt x="937293" y="978416"/>
                  </a:lnTo>
                  <a:cubicBezTo>
                    <a:pt x="937293" y="1007625"/>
                    <a:pt x="925690" y="1035637"/>
                    <a:pt x="905036" y="1056291"/>
                  </a:cubicBezTo>
                  <a:cubicBezTo>
                    <a:pt x="884382" y="1076944"/>
                    <a:pt x="856370" y="1088548"/>
                    <a:pt x="827161" y="1088548"/>
                  </a:cubicBezTo>
                  <a:lnTo>
                    <a:pt x="110132" y="1088548"/>
                  </a:lnTo>
                  <a:cubicBezTo>
                    <a:pt x="80923" y="1088548"/>
                    <a:pt x="52910" y="1076944"/>
                    <a:pt x="32257" y="1056291"/>
                  </a:cubicBezTo>
                  <a:cubicBezTo>
                    <a:pt x="11603" y="1035637"/>
                    <a:pt x="0" y="1007625"/>
                    <a:pt x="0" y="978416"/>
                  </a:cubicBezTo>
                  <a:lnTo>
                    <a:pt x="0" y="110132"/>
                  </a:lnTo>
                  <a:cubicBezTo>
                    <a:pt x="0" y="80923"/>
                    <a:pt x="11603" y="52910"/>
                    <a:pt x="32257" y="32257"/>
                  </a:cubicBezTo>
                  <a:cubicBezTo>
                    <a:pt x="52910" y="11603"/>
                    <a:pt x="80923" y="0"/>
                    <a:pt x="110132" y="0"/>
                  </a:cubicBezTo>
                  <a:close/>
                </a:path>
              </a:pathLst>
            </a:custGeom>
            <a:solidFill>
              <a:srgbClr val="A0A0A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937293" cy="1145698"/>
            </a:xfrm>
            <a:prstGeom prst="rect">
              <a:avLst/>
            </a:prstGeom>
          </p:spPr>
          <p:txBody>
            <a:bodyPr lIns="44584" tIns="44584" rIns="44584" bIns="44584" rtlCol="0" anchor="ctr"/>
            <a:lstStyle/>
            <a:p>
              <a:pPr algn="l">
                <a:lnSpc>
                  <a:spcPts val="3574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49251" y="3472377"/>
            <a:ext cx="4524899" cy="1318932"/>
            <a:chOff x="0" y="0"/>
            <a:chExt cx="1191743" cy="34737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91743" cy="347373"/>
            </a:xfrm>
            <a:custGeom>
              <a:avLst/>
              <a:gdLst/>
              <a:ahLst/>
              <a:cxnLst/>
              <a:rect l="l" t="t" r="r" b="b"/>
              <a:pathLst>
                <a:path w="1191743" h="347373">
                  <a:moveTo>
                    <a:pt x="988543" y="0"/>
                  </a:moveTo>
                  <a:cubicBezTo>
                    <a:pt x="1100767" y="0"/>
                    <a:pt x="1191743" y="77762"/>
                    <a:pt x="1191743" y="173687"/>
                  </a:cubicBezTo>
                  <a:cubicBezTo>
                    <a:pt x="1191743" y="269611"/>
                    <a:pt x="1100767" y="347373"/>
                    <a:pt x="988543" y="347373"/>
                  </a:cubicBezTo>
                  <a:lnTo>
                    <a:pt x="203200" y="347373"/>
                  </a:lnTo>
                  <a:cubicBezTo>
                    <a:pt x="90976" y="347373"/>
                    <a:pt x="0" y="269611"/>
                    <a:pt x="0" y="173687"/>
                  </a:cubicBezTo>
                  <a:cubicBezTo>
                    <a:pt x="0" y="7776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91743" cy="385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603934" y="3472377"/>
            <a:ext cx="4524899" cy="1318932"/>
            <a:chOff x="0" y="0"/>
            <a:chExt cx="1191743" cy="3473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91743" cy="347373"/>
            </a:xfrm>
            <a:custGeom>
              <a:avLst/>
              <a:gdLst/>
              <a:ahLst/>
              <a:cxnLst/>
              <a:rect l="l" t="t" r="r" b="b"/>
              <a:pathLst>
                <a:path w="1191743" h="347373">
                  <a:moveTo>
                    <a:pt x="988543" y="0"/>
                  </a:moveTo>
                  <a:cubicBezTo>
                    <a:pt x="1100767" y="0"/>
                    <a:pt x="1191743" y="77762"/>
                    <a:pt x="1191743" y="173687"/>
                  </a:cubicBezTo>
                  <a:cubicBezTo>
                    <a:pt x="1191743" y="269611"/>
                    <a:pt x="1100767" y="347373"/>
                    <a:pt x="988543" y="347373"/>
                  </a:cubicBezTo>
                  <a:lnTo>
                    <a:pt x="203200" y="347373"/>
                  </a:lnTo>
                  <a:cubicBezTo>
                    <a:pt x="90976" y="347373"/>
                    <a:pt x="0" y="269611"/>
                    <a:pt x="0" y="173687"/>
                  </a:cubicBezTo>
                  <a:cubicBezTo>
                    <a:pt x="0" y="7776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91743" cy="385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91843" y="4588490"/>
            <a:ext cx="1980312" cy="3134285"/>
            <a:chOff x="0" y="0"/>
            <a:chExt cx="521564" cy="8254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21564" cy="825491"/>
            </a:xfrm>
            <a:custGeom>
              <a:avLst/>
              <a:gdLst/>
              <a:ahLst/>
              <a:cxnLst/>
              <a:rect l="l" t="t" r="r" b="b"/>
              <a:pathLst>
                <a:path w="521564" h="825491">
                  <a:moveTo>
                    <a:pt x="521564" y="412745"/>
                  </a:moveTo>
                  <a:lnTo>
                    <a:pt x="115164" y="0"/>
                  </a:lnTo>
                  <a:lnTo>
                    <a:pt x="115164" y="203200"/>
                  </a:lnTo>
                  <a:lnTo>
                    <a:pt x="0" y="203200"/>
                  </a:lnTo>
                  <a:lnTo>
                    <a:pt x="0" y="622291"/>
                  </a:lnTo>
                  <a:lnTo>
                    <a:pt x="115164" y="622291"/>
                  </a:lnTo>
                  <a:lnTo>
                    <a:pt x="115164" y="825491"/>
                  </a:lnTo>
                  <a:lnTo>
                    <a:pt x="521564" y="412745"/>
                  </a:ln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165100"/>
              <a:ext cx="419964" cy="457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975196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49251" y="3817835"/>
            <a:ext cx="452489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Difficultés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03934" y="3817835"/>
            <a:ext cx="452489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Solutions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78226" y="4984339"/>
            <a:ext cx="4539041" cy="5136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Configuration Kafka et </a:t>
            </a:r>
            <a:r>
              <a:rPr lang="en-US" sz="2899" dirty="0" err="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KRaft</a:t>
            </a:r>
            <a:endParaRPr lang="en-US" sz="2899" dirty="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  <a:p>
            <a:pPr marL="626109" lvl="1" indent="-313054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Versions Java incompatibles au </a:t>
            </a:r>
            <a:r>
              <a:rPr lang="en-US" sz="2899" dirty="0" err="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départ</a:t>
            </a:r>
            <a:endParaRPr lang="en-US" sz="2899" dirty="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  <a:p>
            <a:pPr marL="626109" lvl="1" indent="-313054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Gestion des offsets dans les consumer groups</a:t>
            </a:r>
          </a:p>
          <a:p>
            <a:pPr algn="ctr">
              <a:lnSpc>
                <a:spcPts val="4059"/>
              </a:lnSpc>
            </a:pPr>
            <a:endParaRPr lang="en-US" sz="2899" dirty="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  <a:p>
            <a:pPr algn="ctr">
              <a:lnSpc>
                <a:spcPts val="4059"/>
              </a:lnSpc>
            </a:pPr>
            <a:endParaRPr lang="en-US" sz="2899" dirty="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589792" y="4984339"/>
            <a:ext cx="4539041" cy="5136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ctr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Passage à KRaft pour Kafka standalone</a:t>
            </a:r>
          </a:p>
          <a:p>
            <a:pPr marL="626109" lvl="1" indent="-313054" algn="ctr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Standardisation du format JSON</a:t>
            </a:r>
          </a:p>
          <a:p>
            <a:pPr marL="626109" lvl="1" indent="-313054" algn="ctr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Gestion des consumer groups correctement configurée</a:t>
            </a:r>
          </a:p>
          <a:p>
            <a:pPr algn="ctr">
              <a:lnSpc>
                <a:spcPts val="4059"/>
              </a:lnSpc>
            </a:pPr>
            <a:endParaRPr lang="en-US" sz="2899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  <a:p>
            <a:pPr algn="ctr">
              <a:lnSpc>
                <a:spcPts val="4059"/>
              </a:lnSpc>
            </a:pPr>
            <a:endParaRPr lang="en-US" sz="2899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  <a:p>
            <a:pPr algn="ctr">
              <a:lnSpc>
                <a:spcPts val="4059"/>
              </a:lnSpc>
            </a:pPr>
            <a:endParaRPr lang="en-US" sz="2899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7259300" y="8624123"/>
            <a:ext cx="14676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30338" y="1143000"/>
            <a:ext cx="10515790" cy="168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Conclusion &amp; Prochaines étapes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05800" y="2877391"/>
            <a:ext cx="5201697" cy="6268850"/>
            <a:chOff x="0" y="0"/>
            <a:chExt cx="929837" cy="11205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9837" cy="1120597"/>
            </a:xfrm>
            <a:custGeom>
              <a:avLst/>
              <a:gdLst/>
              <a:ahLst/>
              <a:cxnLst/>
              <a:rect l="l" t="t" r="r" b="b"/>
              <a:pathLst>
                <a:path w="929837" h="1120597">
                  <a:moveTo>
                    <a:pt x="111015" y="0"/>
                  </a:moveTo>
                  <a:lnTo>
                    <a:pt x="818822" y="0"/>
                  </a:lnTo>
                  <a:cubicBezTo>
                    <a:pt x="848265" y="0"/>
                    <a:pt x="876502" y="11696"/>
                    <a:pt x="897322" y="32515"/>
                  </a:cubicBezTo>
                  <a:cubicBezTo>
                    <a:pt x="918141" y="53335"/>
                    <a:pt x="929837" y="81572"/>
                    <a:pt x="929837" y="111015"/>
                  </a:cubicBezTo>
                  <a:lnTo>
                    <a:pt x="929837" y="1009583"/>
                  </a:lnTo>
                  <a:cubicBezTo>
                    <a:pt x="929837" y="1070895"/>
                    <a:pt x="880134" y="1120597"/>
                    <a:pt x="818822" y="1120597"/>
                  </a:cubicBezTo>
                  <a:lnTo>
                    <a:pt x="111015" y="1120597"/>
                  </a:lnTo>
                  <a:cubicBezTo>
                    <a:pt x="81572" y="1120597"/>
                    <a:pt x="53335" y="1108901"/>
                    <a:pt x="32515" y="1088082"/>
                  </a:cubicBezTo>
                  <a:cubicBezTo>
                    <a:pt x="11696" y="1067263"/>
                    <a:pt x="0" y="1039026"/>
                    <a:pt x="0" y="1009583"/>
                  </a:cubicBezTo>
                  <a:lnTo>
                    <a:pt x="0" y="111015"/>
                  </a:lnTo>
                  <a:cubicBezTo>
                    <a:pt x="0" y="81572"/>
                    <a:pt x="11696" y="53335"/>
                    <a:pt x="32515" y="32515"/>
                  </a:cubicBezTo>
                  <a:cubicBezTo>
                    <a:pt x="53335" y="11696"/>
                    <a:pt x="81572" y="0"/>
                    <a:pt x="111015" y="0"/>
                  </a:cubicBezTo>
                  <a:close/>
                </a:path>
              </a:pathLst>
            </a:custGeom>
            <a:solidFill>
              <a:srgbClr val="A0A0A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929837" cy="1187273"/>
            </a:xfrm>
            <a:prstGeom prst="rect">
              <a:avLst/>
            </a:prstGeom>
          </p:spPr>
          <p:txBody>
            <a:bodyPr lIns="44584" tIns="44584" rIns="44584" bIns="44584" rtlCol="0" anchor="ctr"/>
            <a:lstStyle/>
            <a:p>
              <a:pPr algn="l">
                <a:lnSpc>
                  <a:spcPts val="4719"/>
                </a:lnSpc>
              </a:pPr>
              <a:endParaRPr/>
            </a:p>
            <a:p>
              <a:pPr algn="l">
                <a:lnSpc>
                  <a:spcPts val="4553"/>
                </a:lnSpc>
              </a:pPr>
              <a:endParaRPr/>
            </a:p>
            <a:p>
              <a:pPr marL="626112" lvl="1" indent="-313056" algn="l">
                <a:lnSpc>
                  <a:spcPts val="4553"/>
                </a:lnSpc>
                <a:buFont typeface="Arial"/>
                <a:buChar char="•"/>
              </a:pPr>
              <a:r>
                <a:rPr lang="en-US" sz="2900">
                  <a:solidFill>
                    <a:srgbClr val="0A2647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Ajout de métriques visibles</a:t>
              </a:r>
            </a:p>
            <a:p>
              <a:pPr marL="626112" lvl="1" indent="-313056" algn="l">
                <a:lnSpc>
                  <a:spcPts val="4553"/>
                </a:lnSpc>
                <a:buFont typeface="Arial"/>
                <a:buChar char="•"/>
              </a:pPr>
              <a:r>
                <a:rPr lang="en-US" sz="2900">
                  <a:solidFill>
                    <a:srgbClr val="0A2647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 Optimisation de l’adaptation</a:t>
              </a:r>
            </a:p>
            <a:p>
              <a:pPr marL="626112" lvl="1" indent="-313056" algn="l">
                <a:lnSpc>
                  <a:spcPts val="4553"/>
                </a:lnSpc>
                <a:buFont typeface="Arial"/>
                <a:buChar char="•"/>
              </a:pPr>
              <a:r>
                <a:rPr lang="en-US" sz="2900">
                  <a:solidFill>
                    <a:srgbClr val="0A2647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 Tests à grande échelle</a:t>
              </a:r>
            </a:p>
            <a:p>
              <a:pPr marL="626112" lvl="1" indent="-313056" algn="l">
                <a:lnSpc>
                  <a:spcPts val="4553"/>
                </a:lnSpc>
                <a:buFont typeface="Arial"/>
                <a:buChar char="•"/>
              </a:pPr>
              <a:r>
                <a:rPr lang="en-US" sz="2900">
                  <a:solidFill>
                    <a:srgbClr val="0A2647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Stockage et visualisation finales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119141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7"/>
                </a:lnTo>
                <a:lnTo>
                  <a:pt x="0" y="1068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-532620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8565851"/>
            <a:ext cx="14676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498077" y="4588490"/>
            <a:ext cx="1980312" cy="3134285"/>
            <a:chOff x="0" y="0"/>
            <a:chExt cx="521564" cy="8254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564" cy="825491"/>
            </a:xfrm>
            <a:custGeom>
              <a:avLst/>
              <a:gdLst/>
              <a:ahLst/>
              <a:cxnLst/>
              <a:rect l="l" t="t" r="r" b="b"/>
              <a:pathLst>
                <a:path w="521564" h="825491">
                  <a:moveTo>
                    <a:pt x="521564" y="412745"/>
                  </a:moveTo>
                  <a:lnTo>
                    <a:pt x="115164" y="0"/>
                  </a:lnTo>
                  <a:lnTo>
                    <a:pt x="115164" y="203200"/>
                  </a:lnTo>
                  <a:lnTo>
                    <a:pt x="0" y="203200"/>
                  </a:lnTo>
                  <a:lnTo>
                    <a:pt x="0" y="622291"/>
                  </a:lnTo>
                  <a:lnTo>
                    <a:pt x="115164" y="622291"/>
                  </a:lnTo>
                  <a:lnTo>
                    <a:pt x="115164" y="825491"/>
                  </a:lnTo>
                  <a:lnTo>
                    <a:pt x="521564" y="412745"/>
                  </a:ln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165100"/>
              <a:ext cx="419964" cy="457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44199" y="3269557"/>
            <a:ext cx="4524899" cy="1318932"/>
            <a:chOff x="0" y="0"/>
            <a:chExt cx="1191743" cy="3473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1743" cy="347373"/>
            </a:xfrm>
            <a:custGeom>
              <a:avLst/>
              <a:gdLst/>
              <a:ahLst/>
              <a:cxnLst/>
              <a:rect l="l" t="t" r="r" b="b"/>
              <a:pathLst>
                <a:path w="1191743" h="347373">
                  <a:moveTo>
                    <a:pt x="988543" y="0"/>
                  </a:moveTo>
                  <a:cubicBezTo>
                    <a:pt x="1100767" y="0"/>
                    <a:pt x="1191743" y="77762"/>
                    <a:pt x="1191743" y="173687"/>
                  </a:cubicBezTo>
                  <a:cubicBezTo>
                    <a:pt x="1191743" y="269611"/>
                    <a:pt x="1100767" y="347373"/>
                    <a:pt x="988543" y="347373"/>
                  </a:cubicBezTo>
                  <a:lnTo>
                    <a:pt x="203200" y="347373"/>
                  </a:lnTo>
                  <a:cubicBezTo>
                    <a:pt x="90976" y="347373"/>
                    <a:pt x="0" y="269611"/>
                    <a:pt x="0" y="173687"/>
                  </a:cubicBezTo>
                  <a:cubicBezTo>
                    <a:pt x="0" y="7776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91743" cy="385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11098" y="2877391"/>
            <a:ext cx="5314389" cy="6212860"/>
            <a:chOff x="0" y="0"/>
            <a:chExt cx="7085852" cy="8283814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7085852" cy="8283814"/>
              <a:chOff x="0" y="0"/>
              <a:chExt cx="949981" cy="111058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949981" cy="1110589"/>
              </a:xfrm>
              <a:custGeom>
                <a:avLst/>
                <a:gdLst/>
                <a:ahLst/>
                <a:cxnLst/>
                <a:rect l="l" t="t" r="r" b="b"/>
                <a:pathLst>
                  <a:path w="949981" h="1110589">
                    <a:moveTo>
                      <a:pt x="108661" y="0"/>
                    </a:moveTo>
                    <a:lnTo>
                      <a:pt x="841321" y="0"/>
                    </a:lnTo>
                    <a:cubicBezTo>
                      <a:pt x="870139" y="0"/>
                      <a:pt x="897778" y="11448"/>
                      <a:pt x="918155" y="31826"/>
                    </a:cubicBezTo>
                    <a:cubicBezTo>
                      <a:pt x="938533" y="52204"/>
                      <a:pt x="949981" y="79842"/>
                      <a:pt x="949981" y="108661"/>
                    </a:cubicBezTo>
                    <a:lnTo>
                      <a:pt x="949981" y="1001928"/>
                    </a:lnTo>
                    <a:cubicBezTo>
                      <a:pt x="949981" y="1030747"/>
                      <a:pt x="938533" y="1058385"/>
                      <a:pt x="918155" y="1078763"/>
                    </a:cubicBezTo>
                    <a:cubicBezTo>
                      <a:pt x="897778" y="1099141"/>
                      <a:pt x="870139" y="1110589"/>
                      <a:pt x="841321" y="1110589"/>
                    </a:cubicBezTo>
                    <a:lnTo>
                      <a:pt x="108661" y="1110589"/>
                    </a:lnTo>
                    <a:cubicBezTo>
                      <a:pt x="79842" y="1110589"/>
                      <a:pt x="52204" y="1099141"/>
                      <a:pt x="31826" y="1078763"/>
                    </a:cubicBezTo>
                    <a:cubicBezTo>
                      <a:pt x="11448" y="1058385"/>
                      <a:pt x="0" y="1030747"/>
                      <a:pt x="0" y="1001928"/>
                    </a:cubicBezTo>
                    <a:lnTo>
                      <a:pt x="0" y="108661"/>
                    </a:lnTo>
                    <a:cubicBezTo>
                      <a:pt x="0" y="79842"/>
                      <a:pt x="11448" y="52204"/>
                      <a:pt x="31826" y="31826"/>
                    </a:cubicBezTo>
                    <a:cubicBezTo>
                      <a:pt x="52204" y="11448"/>
                      <a:pt x="79842" y="0"/>
                      <a:pt x="108661" y="0"/>
                    </a:cubicBezTo>
                    <a:close/>
                  </a:path>
                </a:pathLst>
              </a:custGeom>
              <a:solidFill>
                <a:srgbClr val="A0A0A0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949981" cy="1158214"/>
              </a:xfrm>
              <a:prstGeom prst="rect">
                <a:avLst/>
              </a:prstGeom>
            </p:spPr>
            <p:txBody>
              <a:bodyPr lIns="44584" tIns="44584" rIns="44584" bIns="44584" rtlCol="0" anchor="ctr"/>
              <a:lstStyle/>
              <a:p>
                <a:pPr algn="l">
                  <a:lnSpc>
                    <a:spcPts val="3499"/>
                  </a:lnSpc>
                </a:pPr>
                <a:endParaRPr/>
              </a:p>
              <a:p>
                <a:pPr algn="l">
                  <a:lnSpc>
                    <a:spcPts val="3499"/>
                  </a:lnSpc>
                </a:pPr>
                <a:endParaRPr/>
              </a:p>
              <a:p>
                <a:pPr algn="l">
                  <a:lnSpc>
                    <a:spcPts val="3499"/>
                  </a:lnSpc>
                </a:pPr>
                <a:endParaRPr/>
              </a:p>
              <a:p>
                <a:pPr marL="626111" lvl="1" indent="-313055" algn="l">
                  <a:lnSpc>
                    <a:spcPts val="4060"/>
                  </a:lnSpc>
                  <a:buFont typeface="Arial"/>
                  <a:buChar char="•"/>
                </a:pPr>
                <a:r>
                  <a:rPr lang="en-US" sz="2900">
                    <a:solidFill>
                      <a:srgbClr val="0A2647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Pipeline fonctionnel côté ingestion</a:t>
                </a:r>
              </a:p>
              <a:p>
                <a:pPr marL="626111" lvl="1" indent="-313055" algn="l">
                  <a:lnSpc>
                    <a:spcPts val="4060"/>
                  </a:lnSpc>
                  <a:buFont typeface="Arial"/>
                  <a:buChar char="•"/>
                </a:pPr>
                <a:r>
                  <a:rPr lang="en-US" sz="2900">
                    <a:solidFill>
                      <a:srgbClr val="0A2647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Bases techniques solides</a:t>
                </a:r>
              </a:p>
              <a:p>
                <a:pPr marL="626111" lvl="1" indent="-313055" algn="l">
                  <a:lnSpc>
                    <a:spcPts val="4060"/>
                  </a:lnSpc>
                  <a:buFont typeface="Arial"/>
                  <a:buChar char="•"/>
                </a:pPr>
                <a:r>
                  <a:rPr lang="en-US" sz="2900">
                    <a:solidFill>
                      <a:srgbClr val="0A2647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Suite claire pour le traitement et visualisation</a:t>
                </a:r>
              </a:p>
              <a:p>
                <a:pPr algn="l">
                  <a:lnSpc>
                    <a:spcPts val="4060"/>
                  </a:lnSpc>
                </a:pPr>
                <a:endParaRPr lang="en-US" sz="2900">
                  <a:solidFill>
                    <a:srgbClr val="0A2647"/>
                  </a:solidFill>
                  <a:latin typeface="Etna Sans Serif"/>
                  <a:ea typeface="Etna Sans Serif"/>
                  <a:cs typeface="Etna Sans Serif"/>
                  <a:sym typeface="Etna Sans Serif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33220" y="512815"/>
              <a:ext cx="6419411" cy="1841630"/>
              <a:chOff x="0" y="0"/>
              <a:chExt cx="1268032" cy="36377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68032" cy="363779"/>
              </a:xfrm>
              <a:custGeom>
                <a:avLst/>
                <a:gdLst/>
                <a:ahLst/>
                <a:cxnLst/>
                <a:rect l="l" t="t" r="r" b="b"/>
                <a:pathLst>
                  <a:path w="1268032" h="363779">
                    <a:moveTo>
                      <a:pt x="1064832" y="0"/>
                    </a:moveTo>
                    <a:cubicBezTo>
                      <a:pt x="1177056" y="0"/>
                      <a:pt x="1268032" y="81435"/>
                      <a:pt x="1268032" y="181889"/>
                    </a:cubicBezTo>
                    <a:cubicBezTo>
                      <a:pt x="1268032" y="282344"/>
                      <a:pt x="1177056" y="363779"/>
                      <a:pt x="1064832" y="363779"/>
                    </a:cubicBezTo>
                    <a:lnTo>
                      <a:pt x="203200" y="363779"/>
                    </a:lnTo>
                    <a:cubicBezTo>
                      <a:pt x="90976" y="363779"/>
                      <a:pt x="0" y="282344"/>
                      <a:pt x="0" y="181889"/>
                    </a:cubicBezTo>
                    <a:cubicBezTo>
                      <a:pt x="0" y="8143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7B7B7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57150"/>
                <a:ext cx="1268032" cy="4209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79"/>
                  </a:lnSpc>
                </a:pPr>
                <a:r>
                  <a:rPr lang="en-US" sz="3199">
                    <a:solidFill>
                      <a:srgbClr val="000000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→ Conclusion</a:t>
                </a:r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9674999" y="3061164"/>
            <a:ext cx="4863298" cy="1669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0"/>
              </a:lnSpc>
            </a:pPr>
            <a:endParaRPr/>
          </a:p>
          <a:p>
            <a:pPr algn="ctr">
              <a:lnSpc>
                <a:spcPts val="4450"/>
              </a:lnSpc>
            </a:pPr>
            <a:r>
              <a:rPr lang="en-US" sz="3178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→ Prochaines étapes</a:t>
            </a:r>
          </a:p>
          <a:p>
            <a:pPr algn="ctr">
              <a:lnSpc>
                <a:spcPts val="4450"/>
              </a:lnSpc>
            </a:pPr>
            <a:endParaRPr lang="en-US" sz="3178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98678" y="2518598"/>
            <a:ext cx="4421540" cy="6172200"/>
          </a:xfrm>
          <a:custGeom>
            <a:avLst/>
            <a:gdLst/>
            <a:ahLst/>
            <a:cxnLst/>
            <a:rect l="l" t="t" r="r" b="b"/>
            <a:pathLst>
              <a:path w="4421540" h="6172200">
                <a:moveTo>
                  <a:pt x="0" y="0"/>
                </a:moveTo>
                <a:lnTo>
                  <a:pt x="4421540" y="0"/>
                </a:lnTo>
                <a:lnTo>
                  <a:pt x="442154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6982" y="176982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6" y="0"/>
                </a:lnTo>
                <a:lnTo>
                  <a:pt x="4422196" y="1068697"/>
                </a:lnTo>
                <a:lnTo>
                  <a:pt x="0" y="1068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620218" y="8279874"/>
            <a:ext cx="1335564" cy="133556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08629" y="2613790"/>
            <a:ext cx="11452914" cy="5585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17"/>
              </a:lnSpc>
            </a:pPr>
            <a:r>
              <a:rPr lang="en-US" sz="14417" dirty="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MERCI POUR VOTRE ATTENTION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314652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8624123"/>
            <a:ext cx="14676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80606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285</Words>
  <Application>Microsoft Office PowerPoint</Application>
  <PresentationFormat>Custom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Celandine</vt:lpstr>
      <vt:lpstr>Calibri</vt:lpstr>
      <vt:lpstr>Canva Sans</vt:lpstr>
      <vt:lpstr>Etna Sans Serif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Roadmap Illustrative Presentation</dc:title>
  <dc:creator>ASUS Vivobook</dc:creator>
  <cp:lastModifiedBy>Samah Boudallaa</cp:lastModifiedBy>
  <cp:revision>4</cp:revision>
  <dcterms:created xsi:type="dcterms:W3CDTF">2006-08-16T00:00:00Z</dcterms:created>
  <dcterms:modified xsi:type="dcterms:W3CDTF">2026-02-09T19:15:51Z</dcterms:modified>
  <dc:identifier>DAG79pKXe9Q</dc:identifier>
</cp:coreProperties>
</file>