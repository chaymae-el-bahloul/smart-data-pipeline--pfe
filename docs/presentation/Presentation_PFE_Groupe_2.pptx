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Etna Sans Serif" charset="1" panose="02000600000000000000"/>
      <p:regular r:id="rId17"/>
    </p:embeddedFont>
    <p:embeddedFont>
      <p:font typeface="Celandine" charset="1" panose="00000500000000000000"/>
      <p:regular r:id="rId18"/>
    </p:embeddedFont>
    <p:embeddedFont>
      <p:font typeface="Telegraf" charset="1" panose="00000500000000000000"/>
      <p:regular r:id="rId19"/>
    </p:embeddedFont>
    <p:embeddedFont>
      <p:font typeface="Telegraf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1.png" Type="http://schemas.openxmlformats.org/officeDocument/2006/relationships/image"/><Relationship Id="rId20" Target="../media/image28.png" Type="http://schemas.openxmlformats.org/officeDocument/2006/relationships/image"/><Relationship Id="rId21" Target="../media/image29.svg" Type="http://schemas.openxmlformats.org/officeDocument/2006/relationships/image"/><Relationship Id="rId22" Target="../media/image17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17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36.png" Type="http://schemas.openxmlformats.org/officeDocument/2006/relationships/image"/><Relationship Id="rId19" Target="../media/image37.svg" Type="http://schemas.openxmlformats.org/officeDocument/2006/relationships/image"/><Relationship Id="rId2" Target="../media/image15.png" Type="http://schemas.openxmlformats.org/officeDocument/2006/relationships/image"/><Relationship Id="rId20" Target="../media/image43.png" Type="http://schemas.openxmlformats.org/officeDocument/2006/relationships/image"/><Relationship Id="rId21" Target="../media/image44.svg" Type="http://schemas.openxmlformats.org/officeDocument/2006/relationships/image"/><Relationship Id="rId22" Target="../media/image17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49.png" Type="http://schemas.openxmlformats.org/officeDocument/2006/relationships/image"/><Relationship Id="rId16" Target="../media/image50.svg" Type="http://schemas.openxmlformats.org/officeDocument/2006/relationships/image"/><Relationship Id="rId17" Target="../media/image17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17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60.png" Type="http://schemas.openxmlformats.org/officeDocument/2006/relationships/image"/><Relationship Id="rId15" Target="../media/image61.pn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4236" y="-529720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8277" y="2708317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2119" y="5919754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2231" y="3760669"/>
            <a:ext cx="12932805" cy="274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2"/>
              </a:lnSpc>
            </a:pP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Smart Data Pipeline </a:t>
            </a:r>
            <a:r>
              <a:rPr lang="en-US" sz="7072">
                <a:solidFill>
                  <a:srgbClr val="3A7BFC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Auto</a:t>
            </a:r>
            <a:r>
              <a:rPr lang="en-US" sz="7072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-Adaptatif pour la Gestion Intelligente des Flux de Données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56203" y="1716243"/>
            <a:ext cx="1984148" cy="19841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52468" y="1912507"/>
            <a:ext cx="1591619" cy="159161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740045" y="4838969"/>
            <a:ext cx="1984148" cy="19841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936309" y="5035233"/>
            <a:ext cx="1591619" cy="159161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9258300"/>
            <a:ext cx="1605249" cy="900946"/>
          </a:xfrm>
          <a:custGeom>
            <a:avLst/>
            <a:gdLst/>
            <a:ahLst/>
            <a:cxnLst/>
            <a:rect r="r" b="b" t="t" l="l"/>
            <a:pathLst>
              <a:path h="900946" w="1605249">
                <a:moveTo>
                  <a:pt x="0" y="0"/>
                </a:moveTo>
                <a:lnTo>
                  <a:pt x="1605249" y="0"/>
                </a:lnTo>
                <a:lnTo>
                  <a:pt x="1605249" y="900946"/>
                </a:lnTo>
                <a:lnTo>
                  <a:pt x="0" y="9009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0993" y="4314241"/>
            <a:ext cx="895052" cy="902953"/>
          </a:xfrm>
          <a:custGeom>
            <a:avLst/>
            <a:gdLst/>
            <a:ahLst/>
            <a:cxnLst/>
            <a:rect r="r" b="b" t="t" l="l"/>
            <a:pathLst>
              <a:path h="902953" w="895052">
                <a:moveTo>
                  <a:pt x="0" y="0"/>
                </a:moveTo>
                <a:lnTo>
                  <a:pt x="895052" y="0"/>
                </a:lnTo>
                <a:lnTo>
                  <a:pt x="895052" y="902952"/>
                </a:lnTo>
                <a:lnTo>
                  <a:pt x="0" y="9029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688569" y="1028700"/>
            <a:ext cx="1376733" cy="1042875"/>
          </a:xfrm>
          <a:custGeom>
            <a:avLst/>
            <a:gdLst/>
            <a:ahLst/>
            <a:cxnLst/>
            <a:rect r="r" b="b" t="t" l="l"/>
            <a:pathLst>
              <a:path h="1042875" w="1376733">
                <a:moveTo>
                  <a:pt x="0" y="0"/>
                </a:moveTo>
                <a:lnTo>
                  <a:pt x="1376732" y="0"/>
                </a:lnTo>
                <a:lnTo>
                  <a:pt x="1376732" y="1042875"/>
                </a:lnTo>
                <a:lnTo>
                  <a:pt x="0" y="10428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85423" y="6503566"/>
            <a:ext cx="709243" cy="1068540"/>
          </a:xfrm>
          <a:custGeom>
            <a:avLst/>
            <a:gdLst/>
            <a:ahLst/>
            <a:cxnLst/>
            <a:rect r="r" b="b" t="t" l="l"/>
            <a:pathLst>
              <a:path h="1068540" w="709243">
                <a:moveTo>
                  <a:pt x="0" y="0"/>
                </a:moveTo>
                <a:lnTo>
                  <a:pt x="709244" y="0"/>
                </a:lnTo>
                <a:lnTo>
                  <a:pt x="709244" y="1068539"/>
                </a:lnTo>
                <a:lnTo>
                  <a:pt x="0" y="1068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93388" y="6823117"/>
            <a:ext cx="6114341" cy="3821463"/>
          </a:xfrm>
          <a:custGeom>
            <a:avLst/>
            <a:gdLst/>
            <a:ahLst/>
            <a:cxnLst/>
            <a:rect r="r" b="b" t="t" l="l"/>
            <a:pathLst>
              <a:path h="3821463" w="6114341">
                <a:moveTo>
                  <a:pt x="0" y="0"/>
                </a:moveTo>
                <a:lnTo>
                  <a:pt x="6114341" y="0"/>
                </a:lnTo>
                <a:lnTo>
                  <a:pt x="6114341" y="3821463"/>
                </a:lnTo>
                <a:lnTo>
                  <a:pt x="0" y="3821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248024" y="5281437"/>
            <a:ext cx="1011276" cy="1099213"/>
          </a:xfrm>
          <a:custGeom>
            <a:avLst/>
            <a:gdLst/>
            <a:ahLst/>
            <a:cxnLst/>
            <a:rect r="r" b="b" t="t" l="l"/>
            <a:pathLst>
              <a:path h="1099213" w="1011276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48202" y="2071575"/>
            <a:ext cx="1200151" cy="1140143"/>
          </a:xfrm>
          <a:custGeom>
            <a:avLst/>
            <a:gdLst/>
            <a:ahLst/>
            <a:cxnLst/>
            <a:rect r="r" b="b" t="t" l="l"/>
            <a:pathLst>
              <a:path h="1140143" w="1200151">
                <a:moveTo>
                  <a:pt x="0" y="0"/>
                </a:moveTo>
                <a:lnTo>
                  <a:pt x="1200150" y="0"/>
                </a:lnTo>
                <a:lnTo>
                  <a:pt x="1200150" y="1140143"/>
                </a:lnTo>
                <a:lnTo>
                  <a:pt x="0" y="11401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31325" y="355332"/>
            <a:ext cx="7101696" cy="1716243"/>
          </a:xfrm>
          <a:custGeom>
            <a:avLst/>
            <a:gdLst/>
            <a:ahLst/>
            <a:cxnLst/>
            <a:rect r="r" b="b" t="t" l="l"/>
            <a:pathLst>
              <a:path h="1716243" w="7101696">
                <a:moveTo>
                  <a:pt x="0" y="0"/>
                </a:moveTo>
                <a:lnTo>
                  <a:pt x="7101695" y="0"/>
                </a:lnTo>
                <a:lnTo>
                  <a:pt x="7101695" y="1716243"/>
                </a:lnTo>
                <a:lnTo>
                  <a:pt x="0" y="1716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455036" y="8544660"/>
            <a:ext cx="4237600" cy="93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Encad</a:t>
            </a: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ré par :</a:t>
            </a:r>
          </a:p>
          <a:p>
            <a:pPr algn="l">
              <a:lnSpc>
                <a:spcPts val="3783"/>
              </a:lnSpc>
            </a:pPr>
            <a:r>
              <a:rPr lang="en-US" sz="2702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Pr. Anas BERKA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7342" y="7376384"/>
            <a:ext cx="4428740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Présenté par :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BOUDALLAA SAMAH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BAHLOUL CHAYMAE 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EL BASRI KHADIJA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6775" y="6822888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88062">
            <a:off x="-357485" y="-90215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88062">
            <a:off x="3705162" y="2004009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8062">
            <a:off x="7767810" y="4098232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88062">
            <a:off x="11830457" y="6192456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8062">
            <a:off x="16261477" y="9110457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911911" y="2045574"/>
            <a:ext cx="1664944" cy="16649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76601" y="2210264"/>
            <a:ext cx="1335564" cy="13355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40846" y="2399686"/>
            <a:ext cx="1007074" cy="956720"/>
          </a:xfrm>
          <a:custGeom>
            <a:avLst/>
            <a:gdLst/>
            <a:ahLst/>
            <a:cxnLst/>
            <a:rect r="r" b="b" t="t" l="l"/>
            <a:pathLst>
              <a:path h="956720" w="1007074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187361" y="4315463"/>
            <a:ext cx="1664944" cy="16649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52051" y="4480153"/>
            <a:ext cx="1335564" cy="13355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43608" y="6180257"/>
            <a:ext cx="1664944" cy="166494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08297" y="6344947"/>
            <a:ext cx="1335564" cy="13355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514195" y="4598328"/>
            <a:ext cx="1011276" cy="1099213"/>
          </a:xfrm>
          <a:custGeom>
            <a:avLst/>
            <a:gdLst/>
            <a:ahLst/>
            <a:cxnLst/>
            <a:rect r="r" b="b" t="t" l="l"/>
            <a:pathLst>
              <a:path h="1099213" w="1011276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362007" y="6545778"/>
            <a:ext cx="1228146" cy="933902"/>
          </a:xfrm>
          <a:custGeom>
            <a:avLst/>
            <a:gdLst/>
            <a:ahLst/>
            <a:cxnLst/>
            <a:rect r="r" b="b" t="t" l="l"/>
            <a:pathLst>
              <a:path h="933902" w="1228146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436397" y="7495303"/>
            <a:ext cx="3174329" cy="3675056"/>
          </a:xfrm>
          <a:custGeom>
            <a:avLst/>
            <a:gdLst/>
            <a:ahLst/>
            <a:cxnLst/>
            <a:rect r="r" b="b" t="t" l="l"/>
            <a:pathLst>
              <a:path h="3675056" w="3174329">
                <a:moveTo>
                  <a:pt x="0" y="0"/>
                </a:moveTo>
                <a:lnTo>
                  <a:pt x="3174329" y="0"/>
                </a:lnTo>
                <a:lnTo>
                  <a:pt x="3174329" y="3675055"/>
                </a:lnTo>
                <a:lnTo>
                  <a:pt x="0" y="36750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-63308" y="7256413"/>
            <a:ext cx="2870365" cy="3366997"/>
          </a:xfrm>
          <a:custGeom>
            <a:avLst/>
            <a:gdLst/>
            <a:ahLst/>
            <a:cxnLst/>
            <a:rect r="r" b="b" t="t" l="l"/>
            <a:pathLst>
              <a:path h="3366997" w="2870365">
                <a:moveTo>
                  <a:pt x="2870365" y="0"/>
                </a:moveTo>
                <a:lnTo>
                  <a:pt x="0" y="0"/>
                </a:lnTo>
                <a:lnTo>
                  <a:pt x="0" y="3366997"/>
                </a:lnTo>
                <a:lnTo>
                  <a:pt x="2870365" y="3366997"/>
                </a:lnTo>
                <a:lnTo>
                  <a:pt x="287036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22581" y="8706883"/>
            <a:ext cx="885716" cy="1251896"/>
          </a:xfrm>
          <a:custGeom>
            <a:avLst/>
            <a:gdLst/>
            <a:ahLst/>
            <a:cxnLst/>
            <a:rect r="r" b="b" t="t" l="l"/>
            <a:pathLst>
              <a:path h="1251896" w="885716">
                <a:moveTo>
                  <a:pt x="0" y="0"/>
                </a:moveTo>
                <a:lnTo>
                  <a:pt x="885716" y="0"/>
                </a:lnTo>
                <a:lnTo>
                  <a:pt x="885716" y="1251895"/>
                </a:lnTo>
                <a:lnTo>
                  <a:pt x="0" y="12518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6300198" y="4791309"/>
            <a:ext cx="1918205" cy="1364323"/>
          </a:xfrm>
          <a:custGeom>
            <a:avLst/>
            <a:gdLst/>
            <a:ahLst/>
            <a:cxnLst/>
            <a:rect r="r" b="b" t="t" l="l"/>
            <a:pathLst>
              <a:path h="1364323" w="1918205">
                <a:moveTo>
                  <a:pt x="1918204" y="0"/>
                </a:moveTo>
                <a:lnTo>
                  <a:pt x="0" y="0"/>
                </a:lnTo>
                <a:lnTo>
                  <a:pt x="0" y="1364323"/>
                </a:lnTo>
                <a:lnTo>
                  <a:pt x="1918204" y="1364323"/>
                </a:lnTo>
                <a:lnTo>
                  <a:pt x="1918204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782952" y="6180257"/>
            <a:ext cx="1151872" cy="1735401"/>
          </a:xfrm>
          <a:custGeom>
            <a:avLst/>
            <a:gdLst/>
            <a:ahLst/>
            <a:cxnLst/>
            <a:rect r="r" b="b" t="t" l="l"/>
            <a:pathLst>
              <a:path h="1735401" w="1151872">
                <a:moveTo>
                  <a:pt x="0" y="0"/>
                </a:moveTo>
                <a:lnTo>
                  <a:pt x="1151873" y="0"/>
                </a:lnTo>
                <a:lnTo>
                  <a:pt x="1151873" y="1735401"/>
                </a:lnTo>
                <a:lnTo>
                  <a:pt x="0" y="17354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979322" y="214043"/>
            <a:ext cx="7315200" cy="3044952"/>
          </a:xfrm>
          <a:custGeom>
            <a:avLst/>
            <a:gdLst/>
            <a:ahLst/>
            <a:cxnLst/>
            <a:rect r="r" b="b" t="t" l="l"/>
            <a:pathLst>
              <a:path h="3044952" w="7315200">
                <a:moveTo>
                  <a:pt x="0" y="0"/>
                </a:moveTo>
                <a:lnTo>
                  <a:pt x="7315200" y="0"/>
                </a:lnTo>
                <a:lnTo>
                  <a:pt x="7315200" y="3044952"/>
                </a:lnTo>
                <a:lnTo>
                  <a:pt x="0" y="30449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01879" y="4680336"/>
            <a:ext cx="3085009" cy="113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Objectifs du projet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96712" y="6709821"/>
            <a:ext cx="308500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proposée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5205" y="4044549"/>
            <a:ext cx="272087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Recherche et concepts clés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34825" y="1829425"/>
            <a:ext cx="3752791" cy="171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et problématique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789627" y="6883415"/>
            <a:ext cx="308500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et perspectives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25578" y="9743831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2353" y="3595643"/>
            <a:ext cx="3706795" cy="4562209"/>
            <a:chOff x="0" y="0"/>
            <a:chExt cx="6604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45601" y="3595643"/>
            <a:ext cx="3706795" cy="4562209"/>
            <a:chOff x="0" y="0"/>
            <a:chExt cx="660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28848" y="3595643"/>
            <a:ext cx="3706795" cy="4562209"/>
            <a:chOff x="0" y="0"/>
            <a:chExt cx="660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12096" y="3595643"/>
            <a:ext cx="3706795" cy="4562209"/>
            <a:chOff x="0" y="0"/>
            <a:chExt cx="6604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3278" y="2763171"/>
            <a:ext cx="1664944" cy="16649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47968" y="2927861"/>
            <a:ext cx="1335564" cy="13355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6554" y="2763171"/>
            <a:ext cx="1664944" cy="166494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71244" y="2927861"/>
            <a:ext cx="1335564" cy="13355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45812" y="2763171"/>
            <a:ext cx="1664944" cy="166494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0502" y="2927861"/>
            <a:ext cx="1335564" cy="133556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825099" y="2763171"/>
            <a:ext cx="1664944" cy="166494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89788" y="2927861"/>
            <a:ext cx="1335564" cy="133556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2612213" y="3117283"/>
            <a:ext cx="1007074" cy="956720"/>
          </a:xfrm>
          <a:custGeom>
            <a:avLst/>
            <a:gdLst/>
            <a:ahLst/>
            <a:cxnLst/>
            <a:rect r="r" b="b" t="t" l="l"/>
            <a:pathLst>
              <a:path h="956720" w="1007074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666162" y="3046036"/>
            <a:ext cx="945729" cy="1027967"/>
          </a:xfrm>
          <a:custGeom>
            <a:avLst/>
            <a:gdLst/>
            <a:ahLst/>
            <a:cxnLst/>
            <a:rect r="r" b="b" t="t" l="l"/>
            <a:pathLst>
              <a:path h="1027967" w="945729">
                <a:moveTo>
                  <a:pt x="0" y="0"/>
                </a:moveTo>
                <a:lnTo>
                  <a:pt x="945729" y="0"/>
                </a:lnTo>
                <a:lnTo>
                  <a:pt x="945729" y="1027967"/>
                </a:lnTo>
                <a:lnTo>
                  <a:pt x="0" y="1027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945851" y="3155148"/>
            <a:ext cx="1064867" cy="809743"/>
          </a:xfrm>
          <a:custGeom>
            <a:avLst/>
            <a:gdLst/>
            <a:ahLst/>
            <a:cxnLst/>
            <a:rect r="r" b="b" t="t" l="l"/>
            <a:pathLst>
              <a:path h="809743" w="1064867">
                <a:moveTo>
                  <a:pt x="0" y="0"/>
                </a:moveTo>
                <a:lnTo>
                  <a:pt x="1064867" y="0"/>
                </a:lnTo>
                <a:lnTo>
                  <a:pt x="1064867" y="809743"/>
                </a:lnTo>
                <a:lnTo>
                  <a:pt x="0" y="809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249258" y="3179407"/>
            <a:ext cx="832472" cy="832472"/>
          </a:xfrm>
          <a:custGeom>
            <a:avLst/>
            <a:gdLst/>
            <a:ahLst/>
            <a:cxnLst/>
            <a:rect r="r" b="b" t="t" l="l"/>
            <a:pathLst>
              <a:path h="832472" w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167896" y="1155368"/>
            <a:ext cx="1192017" cy="902953"/>
          </a:xfrm>
          <a:custGeom>
            <a:avLst/>
            <a:gdLst/>
            <a:ahLst/>
            <a:cxnLst/>
            <a:rect r="r" b="b" t="t" l="l"/>
            <a:pathLst>
              <a:path h="902953" w="1192017">
                <a:moveTo>
                  <a:pt x="0" y="0"/>
                </a:moveTo>
                <a:lnTo>
                  <a:pt x="1192017" y="0"/>
                </a:lnTo>
                <a:lnTo>
                  <a:pt x="1192017" y="902953"/>
                </a:lnTo>
                <a:lnTo>
                  <a:pt x="0" y="902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56612" y="1284818"/>
            <a:ext cx="1743690" cy="1013520"/>
          </a:xfrm>
          <a:custGeom>
            <a:avLst/>
            <a:gdLst/>
            <a:ahLst/>
            <a:cxnLst/>
            <a:rect r="r" b="b" t="t" l="l"/>
            <a:pathLst>
              <a:path h="1013520" w="1743690">
                <a:moveTo>
                  <a:pt x="0" y="0"/>
                </a:moveTo>
                <a:lnTo>
                  <a:pt x="1743689" y="0"/>
                </a:lnTo>
                <a:lnTo>
                  <a:pt x="1743689" y="1013520"/>
                </a:lnTo>
                <a:lnTo>
                  <a:pt x="0" y="10135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0" y="8122027"/>
            <a:ext cx="1753628" cy="2164973"/>
          </a:xfrm>
          <a:custGeom>
            <a:avLst/>
            <a:gdLst/>
            <a:ahLst/>
            <a:cxnLst/>
            <a:rect r="r" b="b" t="t" l="l"/>
            <a:pathLst>
              <a:path h="2164973" w="1753628">
                <a:moveTo>
                  <a:pt x="0" y="0"/>
                </a:moveTo>
                <a:lnTo>
                  <a:pt x="1753628" y="0"/>
                </a:lnTo>
                <a:lnTo>
                  <a:pt x="1753628" y="2164973"/>
                </a:lnTo>
                <a:lnTo>
                  <a:pt x="0" y="21649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6490043" y="8395977"/>
            <a:ext cx="1739741" cy="1891023"/>
          </a:xfrm>
          <a:custGeom>
            <a:avLst/>
            <a:gdLst/>
            <a:ahLst/>
            <a:cxnLst/>
            <a:rect r="r" b="b" t="t" l="l"/>
            <a:pathLst>
              <a:path h="1891023" w="1739741">
                <a:moveTo>
                  <a:pt x="0" y="0"/>
                </a:moveTo>
                <a:lnTo>
                  <a:pt x="1739740" y="0"/>
                </a:lnTo>
                <a:lnTo>
                  <a:pt x="1739740" y="1891023"/>
                </a:lnTo>
                <a:lnTo>
                  <a:pt x="0" y="18910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208400" y="7987758"/>
            <a:ext cx="1703363" cy="1735911"/>
          </a:xfrm>
          <a:custGeom>
            <a:avLst/>
            <a:gdLst/>
            <a:ahLst/>
            <a:cxnLst/>
            <a:rect r="r" b="b" t="t" l="l"/>
            <a:pathLst>
              <a:path h="1735911" w="1703363">
                <a:moveTo>
                  <a:pt x="0" y="0"/>
                </a:moveTo>
                <a:lnTo>
                  <a:pt x="1703363" y="0"/>
                </a:lnTo>
                <a:lnTo>
                  <a:pt x="1703363" y="1735911"/>
                </a:lnTo>
                <a:lnTo>
                  <a:pt x="0" y="17359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3948222" y="807462"/>
            <a:ext cx="1051579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CONTEXTE &amp; PROBLÉMATIQUE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32011" y="5082908"/>
            <a:ext cx="296748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Explosion des données (IoT, applications,</a:t>
            </a: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log)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77064" y="5301983"/>
            <a:ext cx="30850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Données continues et hétérogènes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94097" y="5366118"/>
            <a:ext cx="30850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Pipelines classiques rigides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115066" y="5301983"/>
            <a:ext cx="30850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</a:t>
            </a:r>
            <a:r>
              <a:rPr lang="en-US" sz="2499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tervention humaine élevée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881467" y="8798563"/>
            <a:ext cx="9850683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Problématique :  </a:t>
            </a:r>
            <a:r>
              <a:rPr lang="en-US" sz="29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Comment rendre un pipeline de données intelligent et auto-adaptatif ?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925578" y="9743831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98641" y="870122"/>
            <a:ext cx="7815781" cy="8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OBJECTIFS DU PFE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74593" y="4683945"/>
            <a:ext cx="3724048" cy="4109294"/>
            <a:chOff x="0" y="0"/>
            <a:chExt cx="7366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anchor="ctr" rtlCol="false" tIns="44015" lIns="44015" bIns="44015" rIns="4401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29391" y="4683945"/>
            <a:ext cx="3724048" cy="4109294"/>
            <a:chOff x="0" y="0"/>
            <a:chExt cx="7366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anchor="ctr" rtlCol="false" tIns="44015" lIns="44015" bIns="44015" rIns="4401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77252" y="4683945"/>
            <a:ext cx="3724048" cy="4109294"/>
            <a:chOff x="0" y="0"/>
            <a:chExt cx="7366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anchor="ctr" rtlCol="false" tIns="44015" lIns="44015" bIns="44015" rIns="4401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97733" y="4683945"/>
            <a:ext cx="3724048" cy="4109294"/>
            <a:chOff x="0" y="0"/>
            <a:chExt cx="7366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736600">
                  <a:moveTo>
                    <a:pt x="736600" y="0"/>
                  </a:moveTo>
                  <a:lnTo>
                    <a:pt x="736600" y="812800"/>
                  </a:lnTo>
                  <a:lnTo>
                    <a:pt x="368300" y="685800"/>
                  </a:lnTo>
                  <a:lnTo>
                    <a:pt x="0" y="812800"/>
                  </a:lnTo>
                  <a:lnTo>
                    <a:pt x="0" y="0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36600" cy="723900"/>
            </a:xfrm>
            <a:prstGeom prst="rect">
              <a:avLst/>
            </a:prstGeom>
          </p:spPr>
          <p:txBody>
            <a:bodyPr anchor="ctr" rtlCol="false" tIns="44015" lIns="44015" bIns="44015" rIns="4401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52878" y="6284567"/>
            <a:ext cx="296748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Gérer les flux en temps</a:t>
            </a: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réel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45442" y="6191295"/>
            <a:ext cx="30850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S’adapter aux variations de charge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3081" y="6223045"/>
            <a:ext cx="30850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Réduire l’intervention</a:t>
            </a: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humaine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17253" y="5753145"/>
            <a:ext cx="308500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Améliorer la performance et la fiabilité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04145" y="8149744"/>
            <a:ext cx="1664944" cy="166494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68391" y="8314434"/>
            <a:ext cx="1335564" cy="133556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332636" y="8503856"/>
            <a:ext cx="1007074" cy="956720"/>
          </a:xfrm>
          <a:custGeom>
            <a:avLst/>
            <a:gdLst/>
            <a:ahLst/>
            <a:cxnLst/>
            <a:rect r="r" b="b" t="t" l="l"/>
            <a:pathLst>
              <a:path h="956720" w="1007074">
                <a:moveTo>
                  <a:pt x="0" y="0"/>
                </a:moveTo>
                <a:lnTo>
                  <a:pt x="1007074" y="0"/>
                </a:lnTo>
                <a:lnTo>
                  <a:pt x="1007074" y="956720"/>
                </a:lnTo>
                <a:lnTo>
                  <a:pt x="0" y="95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181693" y="8149744"/>
            <a:ext cx="1664944" cy="166494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46383" y="8314434"/>
            <a:ext cx="1335564" cy="133556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44789" y="7916277"/>
            <a:ext cx="1664944" cy="166494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09479" y="8080967"/>
            <a:ext cx="1335564" cy="133556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485777" y="8403536"/>
            <a:ext cx="1011276" cy="1099213"/>
          </a:xfrm>
          <a:custGeom>
            <a:avLst/>
            <a:gdLst/>
            <a:ahLst/>
            <a:cxnLst/>
            <a:rect r="r" b="b" t="t" l="l"/>
            <a:pathLst>
              <a:path h="1099213" w="1011276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4427285" y="7985054"/>
            <a:ext cx="1664944" cy="166494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91975" y="8080967"/>
            <a:ext cx="1335564" cy="133556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4870901" y="8425828"/>
            <a:ext cx="832472" cy="832472"/>
          </a:xfrm>
          <a:custGeom>
            <a:avLst/>
            <a:gdLst/>
            <a:ahLst/>
            <a:cxnLst/>
            <a:rect r="r" b="b" t="t" l="l"/>
            <a:pathLst>
              <a:path h="832472" w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663189" y="8403536"/>
            <a:ext cx="1228146" cy="933902"/>
          </a:xfrm>
          <a:custGeom>
            <a:avLst/>
            <a:gdLst/>
            <a:ahLst/>
            <a:cxnLst/>
            <a:rect r="r" b="b" t="t" l="l"/>
            <a:pathLst>
              <a:path h="933902" w="1228146">
                <a:moveTo>
                  <a:pt x="0" y="0"/>
                </a:moveTo>
                <a:lnTo>
                  <a:pt x="1228145" y="0"/>
                </a:lnTo>
                <a:lnTo>
                  <a:pt x="1228145" y="933902"/>
                </a:lnTo>
                <a:lnTo>
                  <a:pt x="0" y="933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341375" y="9534687"/>
            <a:ext cx="1605249" cy="900946"/>
          </a:xfrm>
          <a:custGeom>
            <a:avLst/>
            <a:gdLst/>
            <a:ahLst/>
            <a:cxnLst/>
            <a:rect r="r" b="b" t="t" l="l"/>
            <a:pathLst>
              <a:path h="900946" w="1605249">
                <a:moveTo>
                  <a:pt x="0" y="0"/>
                </a:moveTo>
                <a:lnTo>
                  <a:pt x="1605250" y="0"/>
                </a:lnTo>
                <a:lnTo>
                  <a:pt x="1605250" y="900946"/>
                </a:lnTo>
                <a:lnTo>
                  <a:pt x="0" y="900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2162914">
            <a:off x="14967751" y="1153773"/>
            <a:ext cx="1173789" cy="1659065"/>
          </a:xfrm>
          <a:custGeom>
            <a:avLst/>
            <a:gdLst/>
            <a:ahLst/>
            <a:cxnLst/>
            <a:rect r="r" b="b" t="t" l="l"/>
            <a:pathLst>
              <a:path h="1659065" w="1173789">
                <a:moveTo>
                  <a:pt x="0" y="0"/>
                </a:moveTo>
                <a:lnTo>
                  <a:pt x="1173789" y="0"/>
                </a:lnTo>
                <a:lnTo>
                  <a:pt x="1173789" y="1659066"/>
                </a:lnTo>
                <a:lnTo>
                  <a:pt x="0" y="16590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379994" y="1028700"/>
            <a:ext cx="1453340" cy="1364323"/>
          </a:xfrm>
          <a:custGeom>
            <a:avLst/>
            <a:gdLst/>
            <a:ahLst/>
            <a:cxnLst/>
            <a:rect r="r" b="b" t="t" l="l"/>
            <a:pathLst>
              <a:path h="1364323" w="1453340">
                <a:moveTo>
                  <a:pt x="0" y="0"/>
                </a:moveTo>
                <a:lnTo>
                  <a:pt x="1453341" y="0"/>
                </a:lnTo>
                <a:lnTo>
                  <a:pt x="1453341" y="1364323"/>
                </a:lnTo>
                <a:lnTo>
                  <a:pt x="0" y="1364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true" flipV="false" rot="0">
            <a:off x="83815" y="8714129"/>
            <a:ext cx="1713530" cy="2058295"/>
          </a:xfrm>
          <a:custGeom>
            <a:avLst/>
            <a:gdLst/>
            <a:ahLst/>
            <a:cxnLst/>
            <a:rect r="r" b="b" t="t" l="l"/>
            <a:pathLst>
              <a:path h="2058295" w="1713530">
                <a:moveTo>
                  <a:pt x="1713530" y="0"/>
                </a:moveTo>
                <a:lnTo>
                  <a:pt x="0" y="0"/>
                </a:lnTo>
                <a:lnTo>
                  <a:pt x="0" y="2058294"/>
                </a:lnTo>
                <a:lnTo>
                  <a:pt x="1713530" y="2058294"/>
                </a:lnTo>
                <a:lnTo>
                  <a:pt x="171353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176153" y="8080967"/>
            <a:ext cx="2166294" cy="2354667"/>
          </a:xfrm>
          <a:custGeom>
            <a:avLst/>
            <a:gdLst/>
            <a:ahLst/>
            <a:cxnLst/>
            <a:rect r="r" b="b" t="t" l="l"/>
            <a:pathLst>
              <a:path h="2354667" w="2166294">
                <a:moveTo>
                  <a:pt x="0" y="0"/>
                </a:moveTo>
                <a:lnTo>
                  <a:pt x="2166294" y="0"/>
                </a:lnTo>
                <a:lnTo>
                  <a:pt x="2166294" y="2354666"/>
                </a:lnTo>
                <a:lnTo>
                  <a:pt x="0" y="23546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3279789" y="2923169"/>
            <a:ext cx="14289165" cy="115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289D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Objectif général 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                        </a:t>
            </a:r>
            <a:r>
              <a:rPr lang="en-US" sz="27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Concevoir un pipeline de données intelligent et auto-adaptatif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352878" y="2999369"/>
            <a:ext cx="1354708" cy="1366666"/>
          </a:xfrm>
          <a:custGeom>
            <a:avLst/>
            <a:gdLst/>
            <a:ahLst/>
            <a:cxnLst/>
            <a:rect r="r" b="b" t="t" l="l"/>
            <a:pathLst>
              <a:path h="1366666" w="1354708">
                <a:moveTo>
                  <a:pt x="0" y="0"/>
                </a:moveTo>
                <a:lnTo>
                  <a:pt x="1354708" y="0"/>
                </a:lnTo>
                <a:lnTo>
                  <a:pt x="1354708" y="1366666"/>
                </a:lnTo>
                <a:lnTo>
                  <a:pt x="0" y="136666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925578" y="9743831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4785" y="1592857"/>
            <a:ext cx="15834515" cy="8694143"/>
          </a:xfrm>
          <a:custGeom>
            <a:avLst/>
            <a:gdLst/>
            <a:ahLst/>
            <a:cxnLst/>
            <a:rect r="r" b="b" t="t" l="l"/>
            <a:pathLst>
              <a:path h="8694143" w="15834515">
                <a:moveTo>
                  <a:pt x="0" y="0"/>
                </a:moveTo>
                <a:lnTo>
                  <a:pt x="15834515" y="0"/>
                </a:lnTo>
                <a:lnTo>
                  <a:pt x="15834515" y="8694143"/>
                </a:lnTo>
                <a:lnTo>
                  <a:pt x="0" y="8694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1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7275" y="650869"/>
            <a:ext cx="16808836" cy="8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CONCEPTS CLÉS (PARTIE RECHERCHE)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04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7052" y="3595643"/>
            <a:ext cx="3097398" cy="3812182"/>
            <a:chOff x="0" y="0"/>
            <a:chExt cx="6604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84133" y="3595643"/>
            <a:ext cx="3097398" cy="3812182"/>
            <a:chOff x="0" y="0"/>
            <a:chExt cx="660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37256" y="3595643"/>
            <a:ext cx="3097398" cy="3812182"/>
            <a:chOff x="0" y="0"/>
            <a:chExt cx="660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161902" y="3595643"/>
            <a:ext cx="3097398" cy="3812182"/>
            <a:chOff x="0" y="0"/>
            <a:chExt cx="6604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83278" y="2763171"/>
            <a:ext cx="1664944" cy="16649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47968" y="2927861"/>
            <a:ext cx="1335564" cy="13355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06554" y="2763171"/>
            <a:ext cx="1664944" cy="166494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09C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71244" y="2927861"/>
            <a:ext cx="1335564" cy="13355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45812" y="2763171"/>
            <a:ext cx="1664944" cy="166494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10502" y="2927861"/>
            <a:ext cx="1335564" cy="133556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825099" y="2763171"/>
            <a:ext cx="1664944" cy="166494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89788" y="2927861"/>
            <a:ext cx="1335564" cy="133556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8909813" y="8122027"/>
            <a:ext cx="1084284" cy="1633573"/>
          </a:xfrm>
          <a:custGeom>
            <a:avLst/>
            <a:gdLst/>
            <a:ahLst/>
            <a:cxnLst/>
            <a:rect r="r" b="b" t="t" l="l"/>
            <a:pathLst>
              <a:path h="1633573" w="1084284">
                <a:moveTo>
                  <a:pt x="0" y="0"/>
                </a:moveTo>
                <a:lnTo>
                  <a:pt x="1084284" y="0"/>
                </a:lnTo>
                <a:lnTo>
                  <a:pt x="1084284" y="1633572"/>
                </a:lnTo>
                <a:lnTo>
                  <a:pt x="0" y="1633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56612" y="1284818"/>
            <a:ext cx="1743690" cy="1013520"/>
          </a:xfrm>
          <a:custGeom>
            <a:avLst/>
            <a:gdLst/>
            <a:ahLst/>
            <a:cxnLst/>
            <a:rect r="r" b="b" t="t" l="l"/>
            <a:pathLst>
              <a:path h="1013520" w="1743690">
                <a:moveTo>
                  <a:pt x="0" y="0"/>
                </a:moveTo>
                <a:lnTo>
                  <a:pt x="1743689" y="0"/>
                </a:lnTo>
                <a:lnTo>
                  <a:pt x="1743689" y="1013520"/>
                </a:lnTo>
                <a:lnTo>
                  <a:pt x="0" y="101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0" y="8122027"/>
            <a:ext cx="1753628" cy="2164973"/>
          </a:xfrm>
          <a:custGeom>
            <a:avLst/>
            <a:gdLst/>
            <a:ahLst/>
            <a:cxnLst/>
            <a:rect r="r" b="b" t="t" l="l"/>
            <a:pathLst>
              <a:path h="2164973" w="1753628">
                <a:moveTo>
                  <a:pt x="0" y="0"/>
                </a:moveTo>
                <a:lnTo>
                  <a:pt x="1753628" y="0"/>
                </a:lnTo>
                <a:lnTo>
                  <a:pt x="1753628" y="2164973"/>
                </a:lnTo>
                <a:lnTo>
                  <a:pt x="0" y="2164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490043" y="8395977"/>
            <a:ext cx="1739741" cy="1891023"/>
          </a:xfrm>
          <a:custGeom>
            <a:avLst/>
            <a:gdLst/>
            <a:ahLst/>
            <a:cxnLst/>
            <a:rect r="r" b="b" t="t" l="l"/>
            <a:pathLst>
              <a:path h="1891023" w="1739741">
                <a:moveTo>
                  <a:pt x="0" y="0"/>
                </a:moveTo>
                <a:lnTo>
                  <a:pt x="1739740" y="0"/>
                </a:lnTo>
                <a:lnTo>
                  <a:pt x="1739740" y="1891023"/>
                </a:lnTo>
                <a:lnTo>
                  <a:pt x="0" y="1891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043731" y="3114484"/>
            <a:ext cx="873054" cy="873054"/>
          </a:xfrm>
          <a:custGeom>
            <a:avLst/>
            <a:gdLst/>
            <a:ahLst/>
            <a:cxnLst/>
            <a:rect r="r" b="b" t="t" l="l"/>
            <a:pathLst>
              <a:path h="873054" w="873054">
                <a:moveTo>
                  <a:pt x="0" y="0"/>
                </a:moveTo>
                <a:lnTo>
                  <a:pt x="873054" y="0"/>
                </a:lnTo>
                <a:lnTo>
                  <a:pt x="873054" y="873054"/>
                </a:lnTo>
                <a:lnTo>
                  <a:pt x="0" y="873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695605" y="3186864"/>
            <a:ext cx="886842" cy="817557"/>
          </a:xfrm>
          <a:custGeom>
            <a:avLst/>
            <a:gdLst/>
            <a:ahLst/>
            <a:cxnLst/>
            <a:rect r="r" b="b" t="t" l="l"/>
            <a:pathLst>
              <a:path h="817557" w="886842">
                <a:moveTo>
                  <a:pt x="0" y="0"/>
                </a:moveTo>
                <a:lnTo>
                  <a:pt x="886842" y="0"/>
                </a:lnTo>
                <a:lnTo>
                  <a:pt x="886842" y="817558"/>
                </a:lnTo>
                <a:lnTo>
                  <a:pt x="0" y="817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265669" y="3151187"/>
            <a:ext cx="799648" cy="799648"/>
          </a:xfrm>
          <a:custGeom>
            <a:avLst/>
            <a:gdLst/>
            <a:ahLst/>
            <a:cxnLst/>
            <a:rect r="r" b="b" t="t" l="l"/>
            <a:pathLst>
              <a:path h="799648" w="799648">
                <a:moveTo>
                  <a:pt x="0" y="0"/>
                </a:moveTo>
                <a:lnTo>
                  <a:pt x="799649" y="0"/>
                </a:lnTo>
                <a:lnTo>
                  <a:pt x="799649" y="799648"/>
                </a:lnTo>
                <a:lnTo>
                  <a:pt x="0" y="7996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4019529" y="905182"/>
            <a:ext cx="9818668" cy="309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9"/>
              </a:lnSpc>
            </a:pPr>
            <a:r>
              <a:rPr lang="en-US" sz="606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 proposée du Smart Data Pipeline</a:t>
            </a:r>
          </a:p>
          <a:p>
            <a:pPr algn="ctr">
              <a:lnSpc>
                <a:spcPts val="6069"/>
              </a:lnSpc>
            </a:pPr>
          </a:p>
          <a:p>
            <a:pPr algn="ctr">
              <a:lnSpc>
                <a:spcPts val="606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632011" y="5082908"/>
            <a:ext cx="29674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Architecture</a:t>
            </a: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orientée événements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(event-driven)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96522" y="5082908"/>
            <a:ext cx="308500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Traitement des données en temps réel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(streaming)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94097" y="5098530"/>
            <a:ext cx="308500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Pipeline modulaire et scalable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122989" y="5082908"/>
            <a:ext cx="308500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Moni</a:t>
            </a:r>
            <a:r>
              <a:rPr lang="en-US" sz="2100">
                <a:solidFill>
                  <a:srgbClr val="F7F9F9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toring intégré pour l’auto-adaptation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2699514" y="3186864"/>
            <a:ext cx="832472" cy="832472"/>
          </a:xfrm>
          <a:custGeom>
            <a:avLst/>
            <a:gdLst/>
            <a:ahLst/>
            <a:cxnLst/>
            <a:rect r="r" b="b" t="t" l="l"/>
            <a:pathLst>
              <a:path h="832472" w="832472">
                <a:moveTo>
                  <a:pt x="0" y="0"/>
                </a:moveTo>
                <a:lnTo>
                  <a:pt x="832472" y="0"/>
                </a:lnTo>
                <a:lnTo>
                  <a:pt x="832472" y="832472"/>
                </a:lnTo>
                <a:lnTo>
                  <a:pt x="0" y="8324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5265669" y="654476"/>
            <a:ext cx="1605249" cy="748447"/>
          </a:xfrm>
          <a:custGeom>
            <a:avLst/>
            <a:gdLst/>
            <a:ahLst/>
            <a:cxnLst/>
            <a:rect r="r" b="b" t="t" l="l"/>
            <a:pathLst>
              <a:path h="748447" w="1605249">
                <a:moveTo>
                  <a:pt x="0" y="0"/>
                </a:moveTo>
                <a:lnTo>
                  <a:pt x="1605250" y="0"/>
                </a:lnTo>
                <a:lnTo>
                  <a:pt x="1605250" y="748448"/>
                </a:lnTo>
                <a:lnTo>
                  <a:pt x="0" y="74844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566489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0281" y="3865136"/>
            <a:ext cx="2771759" cy="700030"/>
            <a:chOff x="0" y="0"/>
            <a:chExt cx="1881233" cy="475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233" cy="475120"/>
            </a:xfrm>
            <a:custGeom>
              <a:avLst/>
              <a:gdLst/>
              <a:ahLst/>
              <a:cxnLst/>
              <a:rect r="r" b="b" t="t" l="l"/>
              <a:pathLst>
                <a:path h="475120" w="1881233">
                  <a:moveTo>
                    <a:pt x="0" y="0"/>
                  </a:moveTo>
                  <a:lnTo>
                    <a:pt x="1678033" y="0"/>
                  </a:lnTo>
                  <a:lnTo>
                    <a:pt x="1881233" y="237560"/>
                  </a:lnTo>
                  <a:lnTo>
                    <a:pt x="1678033" y="475120"/>
                  </a:lnTo>
                  <a:lnTo>
                    <a:pt x="0" y="475120"/>
                  </a:lnTo>
                  <a:lnTo>
                    <a:pt x="203200" y="237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38100"/>
              <a:ext cx="1627233" cy="5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03994" y="3331488"/>
            <a:ext cx="1767325" cy="1767325"/>
            <a:chOff x="0" y="0"/>
            <a:chExt cx="789475" cy="789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9475" cy="789475"/>
            </a:xfrm>
            <a:custGeom>
              <a:avLst/>
              <a:gdLst/>
              <a:ahLst/>
              <a:cxnLst/>
              <a:rect r="r" b="b" t="t" l="l"/>
              <a:pathLst>
                <a:path h="789475" w="789475">
                  <a:moveTo>
                    <a:pt x="394737" y="0"/>
                  </a:moveTo>
                  <a:cubicBezTo>
                    <a:pt x="176730" y="0"/>
                    <a:pt x="0" y="176730"/>
                    <a:pt x="0" y="394737"/>
                  </a:cubicBezTo>
                  <a:cubicBezTo>
                    <a:pt x="0" y="612745"/>
                    <a:pt x="176730" y="789475"/>
                    <a:pt x="394737" y="789475"/>
                  </a:cubicBezTo>
                  <a:cubicBezTo>
                    <a:pt x="612745" y="789475"/>
                    <a:pt x="789475" y="612745"/>
                    <a:pt x="789475" y="394737"/>
                  </a:cubicBezTo>
                  <a:cubicBezTo>
                    <a:pt x="789475" y="176730"/>
                    <a:pt x="612745" y="0"/>
                    <a:pt x="39473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4013" y="35913"/>
              <a:ext cx="641448" cy="679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44993" y="3572487"/>
            <a:ext cx="1460683" cy="1458027"/>
          </a:xfrm>
          <a:custGeom>
            <a:avLst/>
            <a:gdLst/>
            <a:ahLst/>
            <a:cxnLst/>
            <a:rect r="r" b="b" t="t" l="l"/>
            <a:pathLst>
              <a:path h="1458027" w="1460683">
                <a:moveTo>
                  <a:pt x="0" y="0"/>
                </a:moveTo>
                <a:lnTo>
                  <a:pt x="1460682" y="0"/>
                </a:lnTo>
                <a:lnTo>
                  <a:pt x="1460682" y="1458027"/>
                </a:lnTo>
                <a:lnTo>
                  <a:pt x="0" y="145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44993" y="3572487"/>
            <a:ext cx="1285327" cy="1285327"/>
            <a:chOff x="0" y="0"/>
            <a:chExt cx="765551" cy="765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5551" cy="765551"/>
            </a:xfrm>
            <a:custGeom>
              <a:avLst/>
              <a:gdLst/>
              <a:ahLst/>
              <a:cxnLst/>
              <a:rect r="r" b="b" t="t" l="l"/>
              <a:pathLst>
                <a:path h="765551" w="765551">
                  <a:moveTo>
                    <a:pt x="382776" y="0"/>
                  </a:moveTo>
                  <a:cubicBezTo>
                    <a:pt x="171374" y="0"/>
                    <a:pt x="0" y="171374"/>
                    <a:pt x="0" y="382776"/>
                  </a:cubicBezTo>
                  <a:cubicBezTo>
                    <a:pt x="0" y="594177"/>
                    <a:pt x="171374" y="765551"/>
                    <a:pt x="382776" y="765551"/>
                  </a:cubicBezTo>
                  <a:cubicBezTo>
                    <a:pt x="594177" y="765551"/>
                    <a:pt x="765551" y="594177"/>
                    <a:pt x="765551" y="382776"/>
                  </a:cubicBezTo>
                  <a:cubicBezTo>
                    <a:pt x="765551" y="171374"/>
                    <a:pt x="594177" y="0"/>
                    <a:pt x="382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1770" y="33670"/>
              <a:ext cx="622010" cy="66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22041" y="3865136"/>
            <a:ext cx="2771759" cy="700030"/>
            <a:chOff x="0" y="0"/>
            <a:chExt cx="1881233" cy="475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1233" cy="475120"/>
            </a:xfrm>
            <a:custGeom>
              <a:avLst/>
              <a:gdLst/>
              <a:ahLst/>
              <a:cxnLst/>
              <a:rect r="r" b="b" t="t" l="l"/>
              <a:pathLst>
                <a:path h="475120" w="1881233">
                  <a:moveTo>
                    <a:pt x="0" y="0"/>
                  </a:moveTo>
                  <a:lnTo>
                    <a:pt x="1678033" y="0"/>
                  </a:lnTo>
                  <a:lnTo>
                    <a:pt x="1881233" y="237560"/>
                  </a:lnTo>
                  <a:lnTo>
                    <a:pt x="1678033" y="475120"/>
                  </a:lnTo>
                  <a:lnTo>
                    <a:pt x="0" y="475120"/>
                  </a:lnTo>
                  <a:lnTo>
                    <a:pt x="203200" y="237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77800" y="-38100"/>
              <a:ext cx="1627233" cy="5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75753" y="3331488"/>
            <a:ext cx="1767325" cy="1767325"/>
            <a:chOff x="0" y="0"/>
            <a:chExt cx="789475" cy="789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9475" cy="789475"/>
            </a:xfrm>
            <a:custGeom>
              <a:avLst/>
              <a:gdLst/>
              <a:ahLst/>
              <a:cxnLst/>
              <a:rect r="r" b="b" t="t" l="l"/>
              <a:pathLst>
                <a:path h="789475" w="789475">
                  <a:moveTo>
                    <a:pt x="394737" y="0"/>
                  </a:moveTo>
                  <a:cubicBezTo>
                    <a:pt x="176730" y="0"/>
                    <a:pt x="0" y="176730"/>
                    <a:pt x="0" y="394737"/>
                  </a:cubicBezTo>
                  <a:cubicBezTo>
                    <a:pt x="0" y="612745"/>
                    <a:pt x="176730" y="789475"/>
                    <a:pt x="394737" y="789475"/>
                  </a:cubicBezTo>
                  <a:cubicBezTo>
                    <a:pt x="612745" y="789475"/>
                    <a:pt x="789475" y="612745"/>
                    <a:pt x="789475" y="394737"/>
                  </a:cubicBezTo>
                  <a:cubicBezTo>
                    <a:pt x="789475" y="176730"/>
                    <a:pt x="612745" y="0"/>
                    <a:pt x="394737" y="0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4013" y="35913"/>
              <a:ext cx="641448" cy="679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816752" y="3572487"/>
            <a:ext cx="1460683" cy="1458027"/>
          </a:xfrm>
          <a:custGeom>
            <a:avLst/>
            <a:gdLst/>
            <a:ahLst/>
            <a:cxnLst/>
            <a:rect r="r" b="b" t="t" l="l"/>
            <a:pathLst>
              <a:path h="1458027" w="1460683">
                <a:moveTo>
                  <a:pt x="0" y="0"/>
                </a:moveTo>
                <a:lnTo>
                  <a:pt x="1460683" y="0"/>
                </a:lnTo>
                <a:lnTo>
                  <a:pt x="1460683" y="1458027"/>
                </a:lnTo>
                <a:lnTo>
                  <a:pt x="0" y="145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816752" y="3572487"/>
            <a:ext cx="1285327" cy="1285327"/>
            <a:chOff x="0" y="0"/>
            <a:chExt cx="765551" cy="7655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5551" cy="765551"/>
            </a:xfrm>
            <a:custGeom>
              <a:avLst/>
              <a:gdLst/>
              <a:ahLst/>
              <a:cxnLst/>
              <a:rect r="r" b="b" t="t" l="l"/>
              <a:pathLst>
                <a:path h="765551" w="765551">
                  <a:moveTo>
                    <a:pt x="382776" y="0"/>
                  </a:moveTo>
                  <a:cubicBezTo>
                    <a:pt x="171374" y="0"/>
                    <a:pt x="0" y="171374"/>
                    <a:pt x="0" y="382776"/>
                  </a:cubicBezTo>
                  <a:cubicBezTo>
                    <a:pt x="0" y="594177"/>
                    <a:pt x="171374" y="765551"/>
                    <a:pt x="382776" y="765551"/>
                  </a:cubicBezTo>
                  <a:cubicBezTo>
                    <a:pt x="594177" y="765551"/>
                    <a:pt x="765551" y="594177"/>
                    <a:pt x="765551" y="382776"/>
                  </a:cubicBezTo>
                  <a:cubicBezTo>
                    <a:pt x="765551" y="171374"/>
                    <a:pt x="594177" y="0"/>
                    <a:pt x="382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1770" y="33670"/>
              <a:ext cx="622010" cy="66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93800" y="3865136"/>
            <a:ext cx="2771759" cy="700030"/>
            <a:chOff x="0" y="0"/>
            <a:chExt cx="1881233" cy="475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81233" cy="475120"/>
            </a:xfrm>
            <a:custGeom>
              <a:avLst/>
              <a:gdLst/>
              <a:ahLst/>
              <a:cxnLst/>
              <a:rect r="r" b="b" t="t" l="l"/>
              <a:pathLst>
                <a:path h="475120" w="1881233">
                  <a:moveTo>
                    <a:pt x="0" y="0"/>
                  </a:moveTo>
                  <a:lnTo>
                    <a:pt x="1678033" y="0"/>
                  </a:lnTo>
                  <a:lnTo>
                    <a:pt x="1881233" y="237560"/>
                  </a:lnTo>
                  <a:lnTo>
                    <a:pt x="1678033" y="475120"/>
                  </a:lnTo>
                  <a:lnTo>
                    <a:pt x="0" y="475120"/>
                  </a:lnTo>
                  <a:lnTo>
                    <a:pt x="203200" y="237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1627233" cy="5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47512" y="3331488"/>
            <a:ext cx="1767325" cy="1767325"/>
            <a:chOff x="0" y="0"/>
            <a:chExt cx="789475" cy="7894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9475" cy="789475"/>
            </a:xfrm>
            <a:custGeom>
              <a:avLst/>
              <a:gdLst/>
              <a:ahLst/>
              <a:cxnLst/>
              <a:rect r="r" b="b" t="t" l="l"/>
              <a:pathLst>
                <a:path h="789475" w="789475">
                  <a:moveTo>
                    <a:pt x="394737" y="0"/>
                  </a:moveTo>
                  <a:cubicBezTo>
                    <a:pt x="176730" y="0"/>
                    <a:pt x="0" y="176730"/>
                    <a:pt x="0" y="394737"/>
                  </a:cubicBezTo>
                  <a:cubicBezTo>
                    <a:pt x="0" y="612745"/>
                    <a:pt x="176730" y="789475"/>
                    <a:pt x="394737" y="789475"/>
                  </a:cubicBezTo>
                  <a:cubicBezTo>
                    <a:pt x="612745" y="789475"/>
                    <a:pt x="789475" y="612745"/>
                    <a:pt x="789475" y="394737"/>
                  </a:cubicBezTo>
                  <a:cubicBezTo>
                    <a:pt x="789475" y="176730"/>
                    <a:pt x="612745" y="0"/>
                    <a:pt x="394737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4013" y="35913"/>
              <a:ext cx="641448" cy="679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588511" y="3572487"/>
            <a:ext cx="1460683" cy="1458027"/>
          </a:xfrm>
          <a:custGeom>
            <a:avLst/>
            <a:gdLst/>
            <a:ahLst/>
            <a:cxnLst/>
            <a:rect r="r" b="b" t="t" l="l"/>
            <a:pathLst>
              <a:path h="1458027" w="1460683">
                <a:moveTo>
                  <a:pt x="0" y="0"/>
                </a:moveTo>
                <a:lnTo>
                  <a:pt x="1460683" y="0"/>
                </a:lnTo>
                <a:lnTo>
                  <a:pt x="1460683" y="1458027"/>
                </a:lnTo>
                <a:lnTo>
                  <a:pt x="0" y="145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588511" y="3572487"/>
            <a:ext cx="1285327" cy="1285327"/>
            <a:chOff x="0" y="0"/>
            <a:chExt cx="765551" cy="765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5551" cy="765551"/>
            </a:xfrm>
            <a:custGeom>
              <a:avLst/>
              <a:gdLst/>
              <a:ahLst/>
              <a:cxnLst/>
              <a:rect r="r" b="b" t="t" l="l"/>
              <a:pathLst>
                <a:path h="765551" w="765551">
                  <a:moveTo>
                    <a:pt x="382776" y="0"/>
                  </a:moveTo>
                  <a:cubicBezTo>
                    <a:pt x="171374" y="0"/>
                    <a:pt x="0" y="171374"/>
                    <a:pt x="0" y="382776"/>
                  </a:cubicBezTo>
                  <a:cubicBezTo>
                    <a:pt x="0" y="594177"/>
                    <a:pt x="171374" y="765551"/>
                    <a:pt x="382776" y="765551"/>
                  </a:cubicBezTo>
                  <a:cubicBezTo>
                    <a:pt x="594177" y="765551"/>
                    <a:pt x="765551" y="594177"/>
                    <a:pt x="765551" y="382776"/>
                  </a:cubicBezTo>
                  <a:cubicBezTo>
                    <a:pt x="765551" y="171374"/>
                    <a:pt x="594177" y="0"/>
                    <a:pt x="382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1770" y="33670"/>
              <a:ext cx="622010" cy="66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65559" y="3865136"/>
            <a:ext cx="2771759" cy="700030"/>
            <a:chOff x="0" y="0"/>
            <a:chExt cx="1881233" cy="475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81233" cy="475120"/>
            </a:xfrm>
            <a:custGeom>
              <a:avLst/>
              <a:gdLst/>
              <a:ahLst/>
              <a:cxnLst/>
              <a:rect r="r" b="b" t="t" l="l"/>
              <a:pathLst>
                <a:path h="475120" w="1881233">
                  <a:moveTo>
                    <a:pt x="0" y="0"/>
                  </a:moveTo>
                  <a:lnTo>
                    <a:pt x="1678033" y="0"/>
                  </a:lnTo>
                  <a:lnTo>
                    <a:pt x="1881233" y="237560"/>
                  </a:lnTo>
                  <a:lnTo>
                    <a:pt x="1678033" y="475120"/>
                  </a:lnTo>
                  <a:lnTo>
                    <a:pt x="0" y="475120"/>
                  </a:lnTo>
                  <a:lnTo>
                    <a:pt x="203200" y="237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38100"/>
              <a:ext cx="1627233" cy="5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19271" y="3331488"/>
            <a:ext cx="1767325" cy="1767325"/>
            <a:chOff x="0" y="0"/>
            <a:chExt cx="789475" cy="7894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9475" cy="789475"/>
            </a:xfrm>
            <a:custGeom>
              <a:avLst/>
              <a:gdLst/>
              <a:ahLst/>
              <a:cxnLst/>
              <a:rect r="r" b="b" t="t" l="l"/>
              <a:pathLst>
                <a:path h="789475" w="789475">
                  <a:moveTo>
                    <a:pt x="394737" y="0"/>
                  </a:moveTo>
                  <a:cubicBezTo>
                    <a:pt x="176730" y="0"/>
                    <a:pt x="0" y="176730"/>
                    <a:pt x="0" y="394737"/>
                  </a:cubicBezTo>
                  <a:cubicBezTo>
                    <a:pt x="0" y="612745"/>
                    <a:pt x="176730" y="789475"/>
                    <a:pt x="394737" y="789475"/>
                  </a:cubicBezTo>
                  <a:cubicBezTo>
                    <a:pt x="612745" y="789475"/>
                    <a:pt x="789475" y="612745"/>
                    <a:pt x="789475" y="394737"/>
                  </a:cubicBezTo>
                  <a:cubicBezTo>
                    <a:pt x="789475" y="176730"/>
                    <a:pt x="612745" y="0"/>
                    <a:pt x="394737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4013" y="35913"/>
              <a:ext cx="641448" cy="679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360270" y="3572487"/>
            <a:ext cx="1460683" cy="1458027"/>
          </a:xfrm>
          <a:custGeom>
            <a:avLst/>
            <a:gdLst/>
            <a:ahLst/>
            <a:cxnLst/>
            <a:rect r="r" b="b" t="t" l="l"/>
            <a:pathLst>
              <a:path h="1458027" w="1460683">
                <a:moveTo>
                  <a:pt x="0" y="0"/>
                </a:moveTo>
                <a:lnTo>
                  <a:pt x="1460683" y="0"/>
                </a:lnTo>
                <a:lnTo>
                  <a:pt x="1460683" y="1458027"/>
                </a:lnTo>
                <a:lnTo>
                  <a:pt x="0" y="145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360270" y="3572487"/>
            <a:ext cx="1285327" cy="1285327"/>
            <a:chOff x="0" y="0"/>
            <a:chExt cx="765551" cy="7655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5551" cy="765551"/>
            </a:xfrm>
            <a:custGeom>
              <a:avLst/>
              <a:gdLst/>
              <a:ahLst/>
              <a:cxnLst/>
              <a:rect r="r" b="b" t="t" l="l"/>
              <a:pathLst>
                <a:path h="765551" w="765551">
                  <a:moveTo>
                    <a:pt x="382776" y="0"/>
                  </a:moveTo>
                  <a:cubicBezTo>
                    <a:pt x="171374" y="0"/>
                    <a:pt x="0" y="171374"/>
                    <a:pt x="0" y="382776"/>
                  </a:cubicBezTo>
                  <a:cubicBezTo>
                    <a:pt x="0" y="594177"/>
                    <a:pt x="171374" y="765551"/>
                    <a:pt x="382776" y="765551"/>
                  </a:cubicBezTo>
                  <a:cubicBezTo>
                    <a:pt x="594177" y="765551"/>
                    <a:pt x="765551" y="594177"/>
                    <a:pt x="765551" y="382776"/>
                  </a:cubicBezTo>
                  <a:cubicBezTo>
                    <a:pt x="765551" y="171374"/>
                    <a:pt x="594177" y="0"/>
                    <a:pt x="382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1770" y="33670"/>
              <a:ext cx="622010" cy="66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37318" y="3865136"/>
            <a:ext cx="2771759" cy="700030"/>
            <a:chOff x="0" y="0"/>
            <a:chExt cx="1881233" cy="475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81233" cy="475120"/>
            </a:xfrm>
            <a:custGeom>
              <a:avLst/>
              <a:gdLst/>
              <a:ahLst/>
              <a:cxnLst/>
              <a:rect r="r" b="b" t="t" l="l"/>
              <a:pathLst>
                <a:path h="475120" w="1881233">
                  <a:moveTo>
                    <a:pt x="0" y="0"/>
                  </a:moveTo>
                  <a:lnTo>
                    <a:pt x="1678033" y="0"/>
                  </a:lnTo>
                  <a:lnTo>
                    <a:pt x="1881233" y="237560"/>
                  </a:lnTo>
                  <a:lnTo>
                    <a:pt x="1678033" y="475120"/>
                  </a:lnTo>
                  <a:lnTo>
                    <a:pt x="0" y="475120"/>
                  </a:lnTo>
                  <a:lnTo>
                    <a:pt x="203200" y="237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-38100"/>
              <a:ext cx="1627233" cy="51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91030" y="3331488"/>
            <a:ext cx="1767325" cy="1767325"/>
            <a:chOff x="0" y="0"/>
            <a:chExt cx="789475" cy="7894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9475" cy="789475"/>
            </a:xfrm>
            <a:custGeom>
              <a:avLst/>
              <a:gdLst/>
              <a:ahLst/>
              <a:cxnLst/>
              <a:rect r="r" b="b" t="t" l="l"/>
              <a:pathLst>
                <a:path h="789475" w="789475">
                  <a:moveTo>
                    <a:pt x="394737" y="0"/>
                  </a:moveTo>
                  <a:cubicBezTo>
                    <a:pt x="176730" y="0"/>
                    <a:pt x="0" y="176730"/>
                    <a:pt x="0" y="394737"/>
                  </a:cubicBezTo>
                  <a:cubicBezTo>
                    <a:pt x="0" y="612745"/>
                    <a:pt x="176730" y="789475"/>
                    <a:pt x="394737" y="789475"/>
                  </a:cubicBezTo>
                  <a:cubicBezTo>
                    <a:pt x="612745" y="789475"/>
                    <a:pt x="789475" y="612745"/>
                    <a:pt x="789475" y="394737"/>
                  </a:cubicBezTo>
                  <a:cubicBezTo>
                    <a:pt x="789475" y="176730"/>
                    <a:pt x="612745" y="0"/>
                    <a:pt x="394737" y="0"/>
                  </a:cubicBezTo>
                  <a:close/>
                </a:path>
              </a:pathLst>
            </a:custGeom>
            <a:solidFill>
              <a:srgbClr val="205295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4013" y="35913"/>
              <a:ext cx="641448" cy="679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4132029" y="3572487"/>
            <a:ext cx="1460683" cy="1458027"/>
          </a:xfrm>
          <a:custGeom>
            <a:avLst/>
            <a:gdLst/>
            <a:ahLst/>
            <a:cxnLst/>
            <a:rect r="r" b="b" t="t" l="l"/>
            <a:pathLst>
              <a:path h="1458027" w="1460683">
                <a:moveTo>
                  <a:pt x="0" y="0"/>
                </a:moveTo>
                <a:lnTo>
                  <a:pt x="1460683" y="0"/>
                </a:lnTo>
                <a:lnTo>
                  <a:pt x="1460683" y="1458027"/>
                </a:lnTo>
                <a:lnTo>
                  <a:pt x="0" y="145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4132029" y="3572487"/>
            <a:ext cx="1285327" cy="1285327"/>
            <a:chOff x="0" y="0"/>
            <a:chExt cx="765551" cy="7655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5551" cy="765551"/>
            </a:xfrm>
            <a:custGeom>
              <a:avLst/>
              <a:gdLst/>
              <a:ahLst/>
              <a:cxnLst/>
              <a:rect r="r" b="b" t="t" l="l"/>
              <a:pathLst>
                <a:path h="765551" w="765551">
                  <a:moveTo>
                    <a:pt x="382776" y="0"/>
                  </a:moveTo>
                  <a:cubicBezTo>
                    <a:pt x="171374" y="0"/>
                    <a:pt x="0" y="171374"/>
                    <a:pt x="0" y="382776"/>
                  </a:cubicBezTo>
                  <a:cubicBezTo>
                    <a:pt x="0" y="594177"/>
                    <a:pt x="171374" y="765551"/>
                    <a:pt x="382776" y="765551"/>
                  </a:cubicBezTo>
                  <a:cubicBezTo>
                    <a:pt x="594177" y="765551"/>
                    <a:pt x="765551" y="594177"/>
                    <a:pt x="765551" y="382776"/>
                  </a:cubicBezTo>
                  <a:cubicBezTo>
                    <a:pt x="765551" y="171374"/>
                    <a:pt x="594177" y="0"/>
                    <a:pt x="3827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1770" y="33670"/>
              <a:ext cx="622010" cy="660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3166890" y="3694384"/>
            <a:ext cx="1041532" cy="1041532"/>
          </a:xfrm>
          <a:custGeom>
            <a:avLst/>
            <a:gdLst/>
            <a:ahLst/>
            <a:cxnLst/>
            <a:rect r="r" b="b" t="t" l="l"/>
            <a:pathLst>
              <a:path h="1041532" w="1041532">
                <a:moveTo>
                  <a:pt x="0" y="0"/>
                </a:moveTo>
                <a:lnTo>
                  <a:pt x="1041532" y="0"/>
                </a:lnTo>
                <a:lnTo>
                  <a:pt x="1041532" y="1041532"/>
                </a:lnTo>
                <a:lnTo>
                  <a:pt x="0" y="1041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938649" y="3694384"/>
            <a:ext cx="1041532" cy="1041532"/>
          </a:xfrm>
          <a:custGeom>
            <a:avLst/>
            <a:gdLst/>
            <a:ahLst/>
            <a:cxnLst/>
            <a:rect r="r" b="b" t="t" l="l"/>
            <a:pathLst>
              <a:path h="1041532" w="1041532">
                <a:moveTo>
                  <a:pt x="0" y="0"/>
                </a:moveTo>
                <a:lnTo>
                  <a:pt x="1041532" y="0"/>
                </a:lnTo>
                <a:lnTo>
                  <a:pt x="1041532" y="1041532"/>
                </a:lnTo>
                <a:lnTo>
                  <a:pt x="0" y="1041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682701" y="3648408"/>
            <a:ext cx="1087508" cy="1087508"/>
          </a:xfrm>
          <a:custGeom>
            <a:avLst/>
            <a:gdLst/>
            <a:ahLst/>
            <a:cxnLst/>
            <a:rect r="r" b="b" t="t" l="l"/>
            <a:pathLst>
              <a:path h="1087508" w="1087508">
                <a:moveTo>
                  <a:pt x="0" y="0"/>
                </a:moveTo>
                <a:lnTo>
                  <a:pt x="1087508" y="0"/>
                </a:lnTo>
                <a:lnTo>
                  <a:pt x="1087508" y="1087508"/>
                </a:lnTo>
                <a:lnTo>
                  <a:pt x="0" y="1087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1459179" y="3671396"/>
            <a:ext cx="1087508" cy="1087508"/>
          </a:xfrm>
          <a:custGeom>
            <a:avLst/>
            <a:gdLst/>
            <a:ahLst/>
            <a:cxnLst/>
            <a:rect r="r" b="b" t="t" l="l"/>
            <a:pathLst>
              <a:path h="1087508" w="1087508">
                <a:moveTo>
                  <a:pt x="0" y="0"/>
                </a:moveTo>
                <a:lnTo>
                  <a:pt x="1087508" y="0"/>
                </a:lnTo>
                <a:lnTo>
                  <a:pt x="1087508" y="1087508"/>
                </a:lnTo>
                <a:lnTo>
                  <a:pt x="0" y="1087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227893" y="3676641"/>
            <a:ext cx="1077019" cy="1077019"/>
          </a:xfrm>
          <a:custGeom>
            <a:avLst/>
            <a:gdLst/>
            <a:ahLst/>
            <a:cxnLst/>
            <a:rect r="r" b="b" t="t" l="l"/>
            <a:pathLst>
              <a:path h="1077019" w="1077019">
                <a:moveTo>
                  <a:pt x="0" y="0"/>
                </a:moveTo>
                <a:lnTo>
                  <a:pt x="1077019" y="0"/>
                </a:lnTo>
                <a:lnTo>
                  <a:pt x="1077019" y="1077019"/>
                </a:lnTo>
                <a:lnTo>
                  <a:pt x="0" y="107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3687656" y="1412693"/>
            <a:ext cx="1051579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Fonctionnement général du pipeline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639906" y="5575657"/>
            <a:ext cx="20955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Les s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ources de données génèrent des flux continus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460170" y="5588357"/>
            <a:ext cx="20955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 Apa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che Kafka assure l’ingestion et la distribution des flux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71102" y="5737582"/>
            <a:ext cx="2095500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Sp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rk Streaming traite les données en temps réel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023275" y="5588357"/>
            <a:ext cx="20955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 Les données traitées sont stockées dans un Lakehouse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775448" y="5575657"/>
            <a:ext cx="2095500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Le monitoring permet d’obse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rver les performanc</a:t>
            </a:r>
            <a:r>
              <a:rPr lang="en-US" sz="1999">
                <a:solidFill>
                  <a:srgbClr val="333333"/>
                </a:solidFill>
                <a:latin typeface="Telegraf"/>
                <a:ea typeface="Telegraf"/>
                <a:cs typeface="Telegraf"/>
                <a:sym typeface="Telegraf"/>
              </a:rPr>
              <a:t>es et d’adapter le pipeline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5304912" y="8598257"/>
            <a:ext cx="1553467" cy="902953"/>
          </a:xfrm>
          <a:custGeom>
            <a:avLst/>
            <a:gdLst/>
            <a:ahLst/>
            <a:cxnLst/>
            <a:rect r="r" b="b" t="t" l="l"/>
            <a:pathLst>
              <a:path h="902953" w="1553467">
                <a:moveTo>
                  <a:pt x="0" y="0"/>
                </a:moveTo>
                <a:lnTo>
                  <a:pt x="1553467" y="0"/>
                </a:lnTo>
                <a:lnTo>
                  <a:pt x="1553467" y="902953"/>
                </a:lnTo>
                <a:lnTo>
                  <a:pt x="0" y="9029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829848" y="1298393"/>
            <a:ext cx="1605249" cy="900946"/>
          </a:xfrm>
          <a:custGeom>
            <a:avLst/>
            <a:gdLst/>
            <a:ahLst/>
            <a:cxnLst/>
            <a:rect r="r" b="b" t="t" l="l"/>
            <a:pathLst>
              <a:path h="900946" w="1605249">
                <a:moveTo>
                  <a:pt x="0" y="0"/>
                </a:moveTo>
                <a:lnTo>
                  <a:pt x="1605249" y="0"/>
                </a:lnTo>
                <a:lnTo>
                  <a:pt x="1605249" y="900946"/>
                </a:lnTo>
                <a:lnTo>
                  <a:pt x="0" y="900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32947" y="7023794"/>
            <a:ext cx="3002150" cy="3263206"/>
          </a:xfrm>
          <a:custGeom>
            <a:avLst/>
            <a:gdLst/>
            <a:ahLst/>
            <a:cxnLst/>
            <a:rect r="r" b="b" t="t" l="l"/>
            <a:pathLst>
              <a:path h="3263206" w="3002150">
                <a:moveTo>
                  <a:pt x="0" y="0"/>
                </a:moveTo>
                <a:lnTo>
                  <a:pt x="3002150" y="0"/>
                </a:lnTo>
                <a:lnTo>
                  <a:pt x="3002150" y="3263206"/>
                </a:lnTo>
                <a:lnTo>
                  <a:pt x="0" y="32632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2175691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0215" y="2025787"/>
            <a:ext cx="14687571" cy="6819492"/>
          </a:xfrm>
          <a:custGeom>
            <a:avLst/>
            <a:gdLst/>
            <a:ahLst/>
            <a:cxnLst/>
            <a:rect r="r" b="b" t="t" l="l"/>
            <a:pathLst>
              <a:path h="6819492" w="14687571">
                <a:moveTo>
                  <a:pt x="0" y="0"/>
                </a:moveTo>
                <a:lnTo>
                  <a:pt x="14687570" y="0"/>
                </a:lnTo>
                <a:lnTo>
                  <a:pt x="14687570" y="6819492"/>
                </a:lnTo>
                <a:lnTo>
                  <a:pt x="0" y="6819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874" r="0" b="-328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86105" y="915036"/>
            <a:ext cx="1051579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schéma simple du pipeline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469510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4805" y="618671"/>
            <a:ext cx="1051579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Outils &amp; Technologies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88062">
            <a:off x="-357485" y="-90215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88062">
            <a:off x="3705162" y="2004009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88062">
            <a:off x="7767810" y="4098232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88062">
            <a:off x="11830457" y="6192456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88062">
            <a:off x="16261477" y="9110457"/>
            <a:ext cx="4423025" cy="4114800"/>
          </a:xfrm>
          <a:custGeom>
            <a:avLst/>
            <a:gdLst/>
            <a:ahLst/>
            <a:cxnLst/>
            <a:rect r="r" b="b" t="t" l="l"/>
            <a:pathLst>
              <a:path h="4114800" w="4423025">
                <a:moveTo>
                  <a:pt x="0" y="0"/>
                </a:moveTo>
                <a:lnTo>
                  <a:pt x="4423025" y="0"/>
                </a:lnTo>
                <a:lnTo>
                  <a:pt x="44230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911911" y="2045574"/>
            <a:ext cx="1664944" cy="16649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76601" y="2210264"/>
            <a:ext cx="1335564" cy="133556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87361" y="4315463"/>
            <a:ext cx="1664944" cy="16649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52051" y="4480153"/>
            <a:ext cx="1335564" cy="13355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43608" y="6180257"/>
            <a:ext cx="1664944" cy="166494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264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08297" y="6344947"/>
            <a:ext cx="1335564" cy="13355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F9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436397" y="7495303"/>
            <a:ext cx="3174329" cy="3675056"/>
          </a:xfrm>
          <a:custGeom>
            <a:avLst/>
            <a:gdLst/>
            <a:ahLst/>
            <a:cxnLst/>
            <a:rect r="r" b="b" t="t" l="l"/>
            <a:pathLst>
              <a:path h="3675056" w="3174329">
                <a:moveTo>
                  <a:pt x="0" y="0"/>
                </a:moveTo>
                <a:lnTo>
                  <a:pt x="3174329" y="0"/>
                </a:lnTo>
                <a:lnTo>
                  <a:pt x="3174329" y="3675055"/>
                </a:lnTo>
                <a:lnTo>
                  <a:pt x="0" y="3675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-63308" y="7256413"/>
            <a:ext cx="2870365" cy="3366997"/>
          </a:xfrm>
          <a:custGeom>
            <a:avLst/>
            <a:gdLst/>
            <a:ahLst/>
            <a:cxnLst/>
            <a:rect r="r" b="b" t="t" l="l"/>
            <a:pathLst>
              <a:path h="3366997" w="2870365">
                <a:moveTo>
                  <a:pt x="2870365" y="0"/>
                </a:moveTo>
                <a:lnTo>
                  <a:pt x="0" y="0"/>
                </a:lnTo>
                <a:lnTo>
                  <a:pt x="0" y="3366997"/>
                </a:lnTo>
                <a:lnTo>
                  <a:pt x="2870365" y="3366997"/>
                </a:lnTo>
                <a:lnTo>
                  <a:pt x="28703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47294" y="8709285"/>
            <a:ext cx="885716" cy="1251896"/>
          </a:xfrm>
          <a:custGeom>
            <a:avLst/>
            <a:gdLst/>
            <a:ahLst/>
            <a:cxnLst/>
            <a:rect r="r" b="b" t="t" l="l"/>
            <a:pathLst>
              <a:path h="1251896" w="885716">
                <a:moveTo>
                  <a:pt x="0" y="0"/>
                </a:moveTo>
                <a:lnTo>
                  <a:pt x="885716" y="0"/>
                </a:lnTo>
                <a:lnTo>
                  <a:pt x="885716" y="1251896"/>
                </a:lnTo>
                <a:lnTo>
                  <a:pt x="0" y="1251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9261" y="2822827"/>
            <a:ext cx="945609" cy="887691"/>
          </a:xfrm>
          <a:custGeom>
            <a:avLst/>
            <a:gdLst/>
            <a:ahLst/>
            <a:cxnLst/>
            <a:rect r="r" b="b" t="t" l="l"/>
            <a:pathLst>
              <a:path h="887691" w="945609">
                <a:moveTo>
                  <a:pt x="0" y="0"/>
                </a:moveTo>
                <a:lnTo>
                  <a:pt x="945609" y="0"/>
                </a:lnTo>
                <a:lnTo>
                  <a:pt x="945609" y="887691"/>
                </a:lnTo>
                <a:lnTo>
                  <a:pt x="0" y="8876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6300198" y="4791309"/>
            <a:ext cx="1918205" cy="1364323"/>
          </a:xfrm>
          <a:custGeom>
            <a:avLst/>
            <a:gdLst/>
            <a:ahLst/>
            <a:cxnLst/>
            <a:rect r="r" b="b" t="t" l="l"/>
            <a:pathLst>
              <a:path h="1364323" w="1918205">
                <a:moveTo>
                  <a:pt x="1918204" y="0"/>
                </a:moveTo>
                <a:lnTo>
                  <a:pt x="0" y="0"/>
                </a:lnTo>
                <a:lnTo>
                  <a:pt x="0" y="1364323"/>
                </a:lnTo>
                <a:lnTo>
                  <a:pt x="1918204" y="1364323"/>
                </a:lnTo>
                <a:lnTo>
                  <a:pt x="191820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305937" y="2429179"/>
            <a:ext cx="897735" cy="897735"/>
          </a:xfrm>
          <a:custGeom>
            <a:avLst/>
            <a:gdLst/>
            <a:ahLst/>
            <a:cxnLst/>
            <a:rect r="r" b="b" t="t" l="l"/>
            <a:pathLst>
              <a:path h="897735" w="897735">
                <a:moveTo>
                  <a:pt x="0" y="0"/>
                </a:moveTo>
                <a:lnTo>
                  <a:pt x="897735" y="0"/>
                </a:lnTo>
                <a:lnTo>
                  <a:pt x="897735" y="897734"/>
                </a:lnTo>
                <a:lnTo>
                  <a:pt x="0" y="8977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509883" y="6546533"/>
            <a:ext cx="932393" cy="932393"/>
          </a:xfrm>
          <a:custGeom>
            <a:avLst/>
            <a:gdLst/>
            <a:ahLst/>
            <a:cxnLst/>
            <a:rect r="r" b="b" t="t" l="l"/>
            <a:pathLst>
              <a:path h="932393" w="932393">
                <a:moveTo>
                  <a:pt x="0" y="0"/>
                </a:moveTo>
                <a:lnTo>
                  <a:pt x="932393" y="0"/>
                </a:lnTo>
                <a:lnTo>
                  <a:pt x="932393" y="932392"/>
                </a:lnTo>
                <a:lnTo>
                  <a:pt x="0" y="93239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4088768"/>
            <a:ext cx="308500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Ingestion des données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2066" y="4594915"/>
            <a:ext cx="3318277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Apache Kafka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80606"/>
                </a:solidFill>
                <a:latin typeface="Telegraf"/>
                <a:ea typeface="Telegraf"/>
                <a:cs typeface="Telegraf"/>
                <a:sym typeface="Telegraf"/>
              </a:rPr>
              <a:t> → Gestion fiable et distribuée des flux de données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29765" y="5609024"/>
            <a:ext cx="308500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Traitement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416845" y="6183263"/>
            <a:ext cx="299966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Spark Streaming</a:t>
            </a:r>
          </a:p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80606"/>
                </a:solidFill>
                <a:latin typeface="Telegraf"/>
                <a:ea typeface="Telegraf"/>
                <a:cs typeface="Telegraf"/>
                <a:sym typeface="Telegraf"/>
              </a:rPr>
              <a:t> → Traitement temps réel et analyse des flux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44564" y="2192993"/>
            <a:ext cx="2720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Stockage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19833" y="2746627"/>
            <a:ext cx="3318277" cy="178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Lakehouse (Delta Lake ou équivalent)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80606"/>
                </a:solidFill>
                <a:latin typeface="Telegraf"/>
                <a:ea typeface="Telegraf"/>
                <a:cs typeface="Telegraf"/>
                <a:sym typeface="Telegraf"/>
              </a:rPr>
              <a:t> → Stockage flexible et gestion de l’évolution du schéma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25330" y="8008049"/>
            <a:ext cx="3318277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Prometheus &amp; Grafana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2000">
                <a:solidFill>
                  <a:srgbClr val="080606"/>
                </a:solidFill>
                <a:latin typeface="Telegraf"/>
                <a:ea typeface="Telegraf"/>
                <a:cs typeface="Telegraf"/>
                <a:sym typeface="Telegraf"/>
              </a:rPr>
              <a:t>→ Collecte des métriques et visualisation des performances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44564" y="7432055"/>
            <a:ext cx="2720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Monitoring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68593" y="4204619"/>
            <a:ext cx="27208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Scaling (optionnel)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11456" y="4900999"/>
            <a:ext cx="3318277" cy="143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80606"/>
                </a:solidFill>
                <a:latin typeface="Telegraf Bold"/>
                <a:ea typeface="Telegraf Bold"/>
                <a:cs typeface="Telegraf Bold"/>
                <a:sym typeface="Telegraf Bold"/>
              </a:rPr>
              <a:t>Kubernetes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80606"/>
                </a:solidFill>
                <a:latin typeface="Telegraf"/>
                <a:ea typeface="Telegraf"/>
                <a:cs typeface="Telegraf"/>
                <a:sym typeface="Telegraf"/>
              </a:rPr>
              <a:t> → Ajustement automatique des ressources selon la charge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7526572" y="4598328"/>
            <a:ext cx="1011276" cy="1099213"/>
          </a:xfrm>
          <a:custGeom>
            <a:avLst/>
            <a:gdLst/>
            <a:ahLst/>
            <a:cxnLst/>
            <a:rect r="r" b="b" t="t" l="l"/>
            <a:pathLst>
              <a:path h="1099213" w="1011276">
                <a:moveTo>
                  <a:pt x="0" y="0"/>
                </a:moveTo>
                <a:lnTo>
                  <a:pt x="1011276" y="0"/>
                </a:lnTo>
                <a:lnTo>
                  <a:pt x="1011276" y="1099213"/>
                </a:lnTo>
                <a:lnTo>
                  <a:pt x="0" y="10992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28700" y="9751963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54805" y="648649"/>
            <a:ext cx="10515790" cy="16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6500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&amp; Prochaines étapes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138087"/>
            <a:ext cx="4993212" cy="5932673"/>
            <a:chOff x="0" y="0"/>
            <a:chExt cx="892569" cy="10605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2569" cy="1060504"/>
            </a:xfrm>
            <a:custGeom>
              <a:avLst/>
              <a:gdLst/>
              <a:ahLst/>
              <a:cxnLst/>
              <a:rect r="r" b="b" t="t" l="l"/>
              <a:pathLst>
                <a:path h="1060504" w="892569">
                  <a:moveTo>
                    <a:pt x="115650" y="0"/>
                  </a:moveTo>
                  <a:lnTo>
                    <a:pt x="776919" y="0"/>
                  </a:lnTo>
                  <a:cubicBezTo>
                    <a:pt x="807591" y="0"/>
                    <a:pt x="837007" y="12185"/>
                    <a:pt x="858696" y="33873"/>
                  </a:cubicBezTo>
                  <a:cubicBezTo>
                    <a:pt x="880384" y="55562"/>
                    <a:pt x="892569" y="84978"/>
                    <a:pt x="892569" y="115650"/>
                  </a:cubicBezTo>
                  <a:lnTo>
                    <a:pt x="892569" y="944854"/>
                  </a:lnTo>
                  <a:cubicBezTo>
                    <a:pt x="892569" y="1008726"/>
                    <a:pt x="840791" y="1060504"/>
                    <a:pt x="776919" y="1060504"/>
                  </a:cubicBezTo>
                  <a:lnTo>
                    <a:pt x="115650" y="1060504"/>
                  </a:lnTo>
                  <a:cubicBezTo>
                    <a:pt x="84978" y="1060504"/>
                    <a:pt x="55562" y="1048319"/>
                    <a:pt x="33873" y="1026631"/>
                  </a:cubicBezTo>
                  <a:cubicBezTo>
                    <a:pt x="12185" y="1004942"/>
                    <a:pt x="0" y="975526"/>
                    <a:pt x="0" y="944854"/>
                  </a:cubicBezTo>
                  <a:lnTo>
                    <a:pt x="0" y="115650"/>
                  </a:lnTo>
                  <a:cubicBezTo>
                    <a:pt x="0" y="84978"/>
                    <a:pt x="12185" y="55562"/>
                    <a:pt x="33873" y="33873"/>
                  </a:cubicBezTo>
                  <a:cubicBezTo>
                    <a:pt x="55562" y="12185"/>
                    <a:pt x="84978" y="0"/>
                    <a:pt x="115650" y="0"/>
                  </a:cubicBezTo>
                  <a:close/>
                </a:path>
              </a:pathLst>
            </a:custGeom>
            <a:solidFill>
              <a:srgbClr val="3998F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892569" cy="1146229"/>
            </a:xfrm>
            <a:prstGeom prst="rect">
              <a:avLst/>
            </a:prstGeom>
          </p:spPr>
          <p:txBody>
            <a:bodyPr anchor="ctr" rtlCol="false" tIns="44584" lIns="44584" bIns="44584" rIns="44584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  →  Conclusion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Sujet pertinent face à la croissance des flux de données</a:t>
              </a:r>
            </a:p>
            <a:p>
              <a:pPr algn="l" marL="539746" indent="-269873" lvl="1">
                <a:lnSpc>
                  <a:spcPts val="38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Projet combinant recherche et implémentation technique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Architecture moderne inspirée des systèmes Big Data actuels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94511" y="3138087"/>
            <a:ext cx="5090492" cy="5932673"/>
            <a:chOff x="0" y="0"/>
            <a:chExt cx="909958" cy="1060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9959" cy="1060504"/>
            </a:xfrm>
            <a:custGeom>
              <a:avLst/>
              <a:gdLst/>
              <a:ahLst/>
              <a:cxnLst/>
              <a:rect r="r" b="b" t="t" l="l"/>
              <a:pathLst>
                <a:path h="1060504" w="909959">
                  <a:moveTo>
                    <a:pt x="113440" y="0"/>
                  </a:moveTo>
                  <a:lnTo>
                    <a:pt x="796519" y="0"/>
                  </a:lnTo>
                  <a:cubicBezTo>
                    <a:pt x="859170" y="0"/>
                    <a:pt x="909959" y="50789"/>
                    <a:pt x="909959" y="113440"/>
                  </a:cubicBezTo>
                  <a:lnTo>
                    <a:pt x="909959" y="947064"/>
                  </a:lnTo>
                  <a:cubicBezTo>
                    <a:pt x="909959" y="1009715"/>
                    <a:pt x="859170" y="1060504"/>
                    <a:pt x="796519" y="1060504"/>
                  </a:cubicBezTo>
                  <a:lnTo>
                    <a:pt x="113440" y="1060504"/>
                  </a:lnTo>
                  <a:cubicBezTo>
                    <a:pt x="50789" y="1060504"/>
                    <a:pt x="0" y="1009715"/>
                    <a:pt x="0" y="947064"/>
                  </a:cubicBezTo>
                  <a:lnTo>
                    <a:pt x="0" y="113440"/>
                  </a:lnTo>
                  <a:cubicBezTo>
                    <a:pt x="0" y="50789"/>
                    <a:pt x="50789" y="0"/>
                    <a:pt x="113440" y="0"/>
                  </a:cubicBezTo>
                  <a:close/>
                </a:path>
              </a:pathLst>
            </a:custGeom>
            <a:solidFill>
              <a:srgbClr val="1B50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09958" cy="1098604"/>
            </a:xfrm>
            <a:prstGeom prst="rect">
              <a:avLst/>
            </a:prstGeom>
          </p:spPr>
          <p:txBody>
            <a:bodyPr anchor="ctr" rtlCol="false" tIns="44584" lIns="44584" bIns="44584" rIns="44584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57603" y="3138087"/>
            <a:ext cx="5201697" cy="5932673"/>
            <a:chOff x="0" y="0"/>
            <a:chExt cx="929837" cy="1060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837" cy="1060504"/>
            </a:xfrm>
            <a:custGeom>
              <a:avLst/>
              <a:gdLst/>
              <a:ahLst/>
              <a:cxnLst/>
              <a:rect r="r" b="b" t="t" l="l"/>
              <a:pathLst>
                <a:path h="1060504" w="929837">
                  <a:moveTo>
                    <a:pt x="111015" y="0"/>
                  </a:moveTo>
                  <a:lnTo>
                    <a:pt x="818822" y="0"/>
                  </a:lnTo>
                  <a:cubicBezTo>
                    <a:pt x="848265" y="0"/>
                    <a:pt x="876502" y="11696"/>
                    <a:pt x="897322" y="32515"/>
                  </a:cubicBezTo>
                  <a:cubicBezTo>
                    <a:pt x="918141" y="53335"/>
                    <a:pt x="929837" y="81572"/>
                    <a:pt x="929837" y="111015"/>
                  </a:cubicBezTo>
                  <a:lnTo>
                    <a:pt x="929837" y="949489"/>
                  </a:lnTo>
                  <a:cubicBezTo>
                    <a:pt x="929837" y="1010801"/>
                    <a:pt x="880134" y="1060504"/>
                    <a:pt x="818822" y="1060504"/>
                  </a:cubicBezTo>
                  <a:lnTo>
                    <a:pt x="111015" y="1060504"/>
                  </a:lnTo>
                  <a:cubicBezTo>
                    <a:pt x="81572" y="1060504"/>
                    <a:pt x="53335" y="1048808"/>
                    <a:pt x="32515" y="1027988"/>
                  </a:cubicBezTo>
                  <a:cubicBezTo>
                    <a:pt x="11696" y="1007169"/>
                    <a:pt x="0" y="978932"/>
                    <a:pt x="0" y="949489"/>
                  </a:cubicBezTo>
                  <a:lnTo>
                    <a:pt x="0" y="111015"/>
                  </a:lnTo>
                  <a:cubicBezTo>
                    <a:pt x="0" y="81572"/>
                    <a:pt x="11696" y="53335"/>
                    <a:pt x="32515" y="32515"/>
                  </a:cubicBezTo>
                  <a:cubicBezTo>
                    <a:pt x="53335" y="11696"/>
                    <a:pt x="81572" y="0"/>
                    <a:pt x="11101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29837" cy="1117654"/>
            </a:xfrm>
            <a:prstGeom prst="rect">
              <a:avLst/>
            </a:prstGeom>
          </p:spPr>
          <p:txBody>
            <a:bodyPr anchor="ctr" rtlCol="false" tIns="44584" lIns="44584" bIns="44584" rIns="44584"/>
            <a:lstStyle/>
            <a:p>
              <a:pPr algn="l">
                <a:lnSpc>
                  <a:spcPts val="3574"/>
                </a:lnSpc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 →  Prochaines étapes</a:t>
              </a:r>
            </a:p>
            <a:p>
              <a:pPr algn="l">
                <a:lnSpc>
                  <a:spcPts val="3924"/>
                </a:lnSpc>
              </a:pPr>
            </a:p>
            <a:p>
              <a:pPr algn="l" marL="539746" indent="-269873" lvl="1">
                <a:lnSpc>
                  <a:spcPts val="3924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Mise en place de l’environnement technique</a:t>
              </a:r>
            </a:p>
            <a:p>
              <a:pPr algn="l" marL="539746" indent="-269873" lvl="1">
                <a:lnSpc>
                  <a:spcPts val="3924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Implémentation du pipeline de base (Kafka + Spark)</a:t>
              </a:r>
            </a:p>
            <a:p>
              <a:pPr algn="l" marL="539746" indent="-269873" lvl="1">
                <a:lnSpc>
                  <a:spcPts val="3924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Intégration du monitoring</a:t>
              </a:r>
            </a:p>
            <a:p>
              <a:pPr algn="l" marL="539746" indent="-269873" lvl="1">
                <a:lnSpc>
                  <a:spcPts val="3924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Tests et évaluation des performances</a:t>
              </a:r>
            </a:p>
            <a:p>
              <a:pPr algn="l" marL="539746" indent="-269873" lvl="1">
                <a:lnSpc>
                  <a:spcPts val="3924"/>
                </a:lnSpc>
                <a:buFont typeface="Arial"/>
                <a:buChar char="•"/>
              </a:pPr>
              <a:r>
                <a:rPr lang="en-US" sz="2499">
                  <a:solidFill>
                    <a:srgbClr val="FFFFFF"/>
                  </a:solidFill>
                  <a:latin typeface="Celandine"/>
                  <a:ea typeface="Celandine"/>
                  <a:cs typeface="Celandine"/>
                  <a:sym typeface="Celandine"/>
                </a:rPr>
                <a:t>Rédaction finale du mémoire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105203" y="3459649"/>
            <a:ext cx="3814993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 →  </a:t>
            </a:r>
            <a:r>
              <a:rPr lang="en-US" sz="24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Avancement actuel</a:t>
            </a:r>
          </a:p>
          <a:p>
            <a:pPr algn="l">
              <a:lnSpc>
                <a:spcPts val="3499"/>
              </a:lnSpc>
            </a:pP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Étude bibliographique et analyse des solutions existantes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Identification des limites des pipelines classiques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Définition de l’architecture et des technologies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17820">
            <a:off x="3047191" y="1353652"/>
            <a:ext cx="994331" cy="1405415"/>
          </a:xfrm>
          <a:custGeom>
            <a:avLst/>
            <a:gdLst/>
            <a:ahLst/>
            <a:cxnLst/>
            <a:rect r="r" b="b" t="t" l="l"/>
            <a:pathLst>
              <a:path h="1405415" w="994331">
                <a:moveTo>
                  <a:pt x="0" y="0"/>
                </a:moveTo>
                <a:lnTo>
                  <a:pt x="994331" y="0"/>
                </a:lnTo>
                <a:lnTo>
                  <a:pt x="994331" y="1405415"/>
                </a:lnTo>
                <a:lnTo>
                  <a:pt x="0" y="1405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58451" y="1028700"/>
            <a:ext cx="1918205" cy="1364323"/>
          </a:xfrm>
          <a:custGeom>
            <a:avLst/>
            <a:gdLst/>
            <a:ahLst/>
            <a:cxnLst/>
            <a:rect r="r" b="b" t="t" l="l"/>
            <a:pathLst>
              <a:path h="1364323" w="1918205">
                <a:moveTo>
                  <a:pt x="0" y="0"/>
                </a:moveTo>
                <a:lnTo>
                  <a:pt x="1918205" y="0"/>
                </a:lnTo>
                <a:lnTo>
                  <a:pt x="1918205" y="1364323"/>
                </a:lnTo>
                <a:lnTo>
                  <a:pt x="0" y="1364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237652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33625"/>
            <a:ext cx="11452914" cy="56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7"/>
              </a:lnSpc>
            </a:pPr>
            <a:r>
              <a:rPr lang="en-US" sz="14617">
                <a:solidFill>
                  <a:srgbClr val="080606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MERCI POUR VOTRE ATTENTION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709706" y="2057400"/>
            <a:ext cx="4421540" cy="6172200"/>
          </a:xfrm>
          <a:custGeom>
            <a:avLst/>
            <a:gdLst/>
            <a:ahLst/>
            <a:cxnLst/>
            <a:rect r="r" b="b" t="t" l="l"/>
            <a:pathLst>
              <a:path h="6172200" w="4421540">
                <a:moveTo>
                  <a:pt x="0" y="0"/>
                </a:moveTo>
                <a:lnTo>
                  <a:pt x="4421539" y="0"/>
                </a:lnTo>
                <a:lnTo>
                  <a:pt x="442153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004" y="0"/>
            <a:ext cx="4422197" cy="1068698"/>
          </a:xfrm>
          <a:custGeom>
            <a:avLst/>
            <a:gdLst/>
            <a:ahLst/>
            <a:cxnLst/>
            <a:rect r="r" b="b" t="t" l="l"/>
            <a:pathLst>
              <a:path h="1068698" w="4422197">
                <a:moveTo>
                  <a:pt x="0" y="0"/>
                </a:moveTo>
                <a:lnTo>
                  <a:pt x="4422197" y="0"/>
                </a:lnTo>
                <a:lnTo>
                  <a:pt x="4422197" y="1068698"/>
                </a:lnTo>
                <a:lnTo>
                  <a:pt x="0" y="1068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40910" y="9904730"/>
            <a:ext cx="376295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80606"/>
                </a:solidFill>
                <a:latin typeface="Celandine"/>
                <a:ea typeface="Celandine"/>
                <a:cs typeface="Celandine"/>
                <a:sym typeface="Celandine"/>
              </a:rPr>
              <a:t>Groupe_2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DAG79pKXe9Q</dc:identifier>
  <dcterms:modified xsi:type="dcterms:W3CDTF">2011-08-01T06:04:30Z</dcterms:modified>
  <cp:revision>1</cp:revision>
  <dc:title>Artificial Intelligence Roadmap Illustrative Presentation</dc:title>
</cp:coreProperties>
</file>